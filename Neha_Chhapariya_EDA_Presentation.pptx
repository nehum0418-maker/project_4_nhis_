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108" d="100"/>
          <a:sy n="108" d="100"/>
        </p:scale>
        <p:origin x="63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7314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0A1E"/>
        </a:solidFill>
        <a:effectLst/>
      </p:bgPr>
    </p:bg>
    <p:spTree>
      <p:nvGrpSpPr>
        <p:cNvPr id="1" name=""/>
        <p:cNvGrpSpPr/>
        <p:nvPr/>
      </p:nvGrpSpPr>
      <p:grpSpPr>
        <a:xfrm>
          <a:off x="0" y="0"/>
          <a:ext cx="0" cy="0"/>
          <a:chOff x="0" y="0"/>
          <a:chExt cx="0" cy="0"/>
        </a:xfrm>
      </p:grpSpPr>
      <p:sp>
        <p:nvSpPr>
          <p:cNvPr id="2" name="Shape 0"/>
          <p:cNvSpPr/>
          <p:nvPr/>
        </p:nvSpPr>
        <p:spPr>
          <a:xfrm>
            <a:off x="0" y="0"/>
            <a:ext cx="0" cy="6858000"/>
          </a:xfrm>
          <a:prstGeom prst="rect">
            <a:avLst/>
          </a:prstGeom>
          <a:solidFill>
            <a:srgbClr val="1A0A1E"/>
          </a:solidFill>
          <a:ln w="12700">
            <a:solidFill>
              <a:srgbClr val="1A0A1E"/>
            </a:solidFill>
            <a:prstDash val="solid"/>
          </a:ln>
        </p:spPr>
        <p:txBody>
          <a:bodyPr/>
          <a:lstStyle/>
          <a:p>
            <a:endParaRPr lang="en-IN"/>
          </a:p>
        </p:txBody>
      </p:sp>
      <p:sp>
        <p:nvSpPr>
          <p:cNvPr id="3" name="Shape 1"/>
          <p:cNvSpPr/>
          <p:nvPr/>
        </p:nvSpPr>
        <p:spPr>
          <a:xfrm>
            <a:off x="0" y="0"/>
            <a:ext cx="0" cy="0"/>
          </a:xfrm>
          <a:prstGeom prst="rect">
            <a:avLst/>
          </a:prstGeom>
          <a:solidFill>
            <a:srgbClr val="C0392B"/>
          </a:solidFill>
          <a:ln w="12700">
            <a:solidFill>
              <a:srgbClr val="C0392B"/>
            </a:solidFill>
            <a:prstDash val="solid"/>
          </a:ln>
        </p:spPr>
        <p:txBody>
          <a:bodyPr/>
          <a:lstStyle/>
          <a:p>
            <a:endParaRPr lang="en-IN"/>
          </a:p>
        </p:txBody>
      </p:sp>
      <p:sp>
        <p:nvSpPr>
          <p:cNvPr id="4" name="Shape 2"/>
          <p:cNvSpPr/>
          <p:nvPr/>
        </p:nvSpPr>
        <p:spPr>
          <a:xfrm>
            <a:off x="0" y="6601968"/>
            <a:ext cx="0" cy="256032"/>
          </a:xfrm>
          <a:prstGeom prst="rect">
            <a:avLst/>
          </a:prstGeom>
          <a:solidFill>
            <a:srgbClr val="1F0D25"/>
          </a:solidFill>
          <a:ln w="12700">
            <a:solidFill>
              <a:srgbClr val="1F0D25"/>
            </a:solidFill>
            <a:prstDash val="solid"/>
          </a:ln>
        </p:spPr>
        <p:txBody>
          <a:bodyPr/>
          <a:lstStyle/>
          <a:p>
            <a:endParaRPr lang="en-IN"/>
          </a:p>
        </p:txBody>
      </p:sp>
      <p:sp>
        <p:nvSpPr>
          <p:cNvPr id="5" name="Shape 3"/>
          <p:cNvSpPr/>
          <p:nvPr/>
        </p:nvSpPr>
        <p:spPr>
          <a:xfrm>
            <a:off x="502920" y="502920"/>
            <a:ext cx="0" cy="0"/>
          </a:xfrm>
          <a:prstGeom prst="roundRect">
            <a:avLst>
              <a:gd name="adj" fmla="val 1311"/>
            </a:avLst>
          </a:prstGeom>
          <a:solidFill>
            <a:srgbClr val="10182E"/>
          </a:solidFill>
          <a:ln w="12700">
            <a:solidFill>
              <a:srgbClr val="5E2680"/>
            </a:solidFill>
            <a:prstDash val="solid"/>
          </a:ln>
        </p:spPr>
        <p:txBody>
          <a:bodyPr/>
          <a:lstStyle/>
          <a:p>
            <a:endParaRPr lang="en-IN"/>
          </a:p>
        </p:txBody>
      </p:sp>
      <p:sp>
        <p:nvSpPr>
          <p:cNvPr id="6" name="Text 4"/>
          <p:cNvSpPr/>
          <p:nvPr/>
        </p:nvSpPr>
        <p:spPr>
          <a:xfrm>
            <a:off x="868680" y="960120"/>
            <a:ext cx="4572000" cy="502920"/>
          </a:xfrm>
          <a:prstGeom prst="rect">
            <a:avLst/>
          </a:prstGeom>
          <a:noFill/>
          <a:ln/>
        </p:spPr>
        <p:txBody>
          <a:bodyPr wrap="square" lIns="0" tIns="0" rIns="0" bIns="0" rtlCol="0" anchor="ctr"/>
          <a:lstStyle/>
          <a:p>
            <a:pPr marL="0" indent="0">
              <a:buNone/>
            </a:pPr>
            <a:r>
              <a:rPr lang="en-US" sz="2800" b="1" dirty="0">
                <a:solidFill>
                  <a:srgbClr val="C0392B"/>
                </a:solidFill>
              </a:rPr>
              <a:t>NHIS Project 4</a:t>
            </a:r>
            <a:endParaRPr lang="en-US" sz="2800" dirty="0"/>
          </a:p>
        </p:txBody>
      </p:sp>
      <p:sp>
        <p:nvSpPr>
          <p:cNvPr id="7" name="Text 5"/>
          <p:cNvSpPr/>
          <p:nvPr/>
        </p:nvSpPr>
        <p:spPr>
          <a:xfrm>
            <a:off x="868680" y="1444752"/>
            <a:ext cx="5943600" cy="640080"/>
          </a:xfrm>
          <a:prstGeom prst="rect">
            <a:avLst/>
          </a:prstGeom>
          <a:noFill/>
          <a:ln/>
        </p:spPr>
        <p:txBody>
          <a:bodyPr wrap="square" lIns="0" tIns="0" rIns="0" bIns="0" rtlCol="0" anchor="ctr"/>
          <a:lstStyle/>
          <a:p>
            <a:pPr marL="0" indent="0">
              <a:buNone/>
            </a:pPr>
            <a:r>
              <a:rPr lang="en-US" sz="2400" b="1" dirty="0">
                <a:solidFill>
                  <a:srgbClr val="F8F0FF"/>
                </a:solidFill>
              </a:rPr>
              <a:t>Feature Extraction &amp; Price Prediction Readiness for Mobile Phones</a:t>
            </a:r>
            <a:endParaRPr lang="en-US" sz="2400" dirty="0"/>
          </a:p>
        </p:txBody>
      </p:sp>
      <p:sp>
        <p:nvSpPr>
          <p:cNvPr id="8" name="Text 6"/>
          <p:cNvSpPr/>
          <p:nvPr/>
        </p:nvSpPr>
        <p:spPr>
          <a:xfrm>
            <a:off x="868680" y="2212848"/>
            <a:ext cx="4754880" cy="274320"/>
          </a:xfrm>
          <a:prstGeom prst="rect">
            <a:avLst/>
          </a:prstGeom>
          <a:noFill/>
          <a:ln/>
        </p:spPr>
        <p:txBody>
          <a:bodyPr wrap="square" lIns="0" tIns="0" rIns="0" bIns="0" rtlCol="0" anchor="ctr"/>
          <a:lstStyle/>
          <a:p>
            <a:pPr marL="0" indent="0">
              <a:buNone/>
            </a:pPr>
            <a:r>
              <a:rPr lang="en-US" sz="1250" i="1" dirty="0">
                <a:solidFill>
                  <a:srgbClr val="D7B8E8"/>
                </a:solidFill>
              </a:rPr>
              <a:t>Top-tier final submission prepared for Ma'am</a:t>
            </a:r>
            <a:endParaRPr lang="en-US" sz="1250" dirty="0"/>
          </a:p>
        </p:txBody>
      </p:sp>
      <p:sp>
        <p:nvSpPr>
          <p:cNvPr id="9" name="Text 7"/>
          <p:cNvSpPr/>
          <p:nvPr/>
        </p:nvSpPr>
        <p:spPr>
          <a:xfrm>
            <a:off x="868680" y="4864608"/>
            <a:ext cx="3383280" cy="256032"/>
          </a:xfrm>
          <a:prstGeom prst="rect">
            <a:avLst/>
          </a:prstGeom>
          <a:noFill/>
          <a:ln/>
        </p:spPr>
        <p:txBody>
          <a:bodyPr wrap="square" lIns="0" tIns="0" rIns="0" bIns="0" rtlCol="0" anchor="ctr"/>
          <a:lstStyle/>
          <a:p>
            <a:pPr marL="0" indent="0">
              <a:buNone/>
            </a:pPr>
            <a:r>
              <a:rPr lang="en-US" sz="1800" b="1" dirty="0">
                <a:solidFill>
                  <a:srgbClr val="F39C12"/>
                </a:solidFill>
              </a:rPr>
              <a:t>Neha Chhapariya</a:t>
            </a:r>
            <a:endParaRPr lang="en-US" sz="1800" dirty="0"/>
          </a:p>
        </p:txBody>
      </p:sp>
      <p:sp>
        <p:nvSpPr>
          <p:cNvPr id="10" name="Text 8"/>
          <p:cNvSpPr/>
          <p:nvPr/>
        </p:nvSpPr>
        <p:spPr>
          <a:xfrm>
            <a:off x="868680" y="5148072"/>
            <a:ext cx="3383280" cy="201168"/>
          </a:xfrm>
          <a:prstGeom prst="rect">
            <a:avLst/>
          </a:prstGeom>
          <a:noFill/>
          <a:ln/>
        </p:spPr>
        <p:txBody>
          <a:bodyPr wrap="square" lIns="0" tIns="0" rIns="0" bIns="0" rtlCol="0" anchor="ctr"/>
          <a:lstStyle/>
          <a:p>
            <a:pPr marL="0" indent="0">
              <a:buNone/>
            </a:pPr>
            <a:r>
              <a:rPr lang="en-US" sz="1150" dirty="0">
                <a:solidFill>
                  <a:srgbClr val="F8F0FF"/>
                </a:solidFill>
              </a:rPr>
              <a:t>NHIS Internship Programme</a:t>
            </a:r>
            <a:endParaRPr lang="en-US" sz="1150" dirty="0"/>
          </a:p>
        </p:txBody>
      </p:sp>
      <p:sp>
        <p:nvSpPr>
          <p:cNvPr id="11" name="Text 9"/>
          <p:cNvSpPr/>
          <p:nvPr/>
        </p:nvSpPr>
        <p:spPr>
          <a:xfrm>
            <a:off x="868680" y="5413248"/>
            <a:ext cx="5029200" cy="201168"/>
          </a:xfrm>
          <a:prstGeom prst="rect">
            <a:avLst/>
          </a:prstGeom>
          <a:noFill/>
          <a:ln/>
        </p:spPr>
        <p:txBody>
          <a:bodyPr wrap="square" lIns="0" tIns="0" rIns="0" bIns="0" rtlCol="0" anchor="ctr"/>
          <a:lstStyle/>
          <a:p>
            <a:pPr marL="0" indent="0">
              <a:buNone/>
            </a:pPr>
            <a:r>
              <a:rPr lang="en-US" sz="1050" dirty="0">
                <a:solidFill>
                  <a:srgbClr val="D7B8E8"/>
                </a:solidFill>
              </a:rPr>
              <a:t>Dataset: Flipkart Mobile Phones  •  Focus: EDA + Feature Engineering + Model readiness</a:t>
            </a:r>
            <a:endParaRPr lang="en-US" sz="1050" dirty="0"/>
          </a:p>
        </p:txBody>
      </p:sp>
      <p:sp>
        <p:nvSpPr>
          <p:cNvPr id="12" name="Shape 10"/>
          <p:cNvSpPr/>
          <p:nvPr/>
        </p:nvSpPr>
        <p:spPr>
          <a:xfrm>
            <a:off x="868680" y="4526280"/>
            <a:ext cx="4480560" cy="0"/>
          </a:xfrm>
          <a:prstGeom prst="line">
            <a:avLst/>
          </a:prstGeom>
          <a:noFill/>
          <a:ln w="12700">
            <a:solidFill>
              <a:srgbClr val="5E2680"/>
            </a:solidFill>
            <a:prstDash val="solid"/>
          </a:ln>
        </p:spPr>
        <p:txBody>
          <a:bodyPr/>
          <a:lstStyle/>
          <a:p>
            <a:endParaRPr lang="en-IN"/>
          </a:p>
        </p:txBody>
      </p:sp>
      <p:pic>
        <p:nvPicPr>
          <p:cNvPr id="13" name="Image 0" descr="/mnt/data/reena_assets/plot_58.png"/>
          <p:cNvPicPr>
            <a:picLocks noChangeAspect="1"/>
          </p:cNvPicPr>
          <p:nvPr/>
        </p:nvPicPr>
        <p:blipFill>
          <a:blip r:embed="rId3"/>
          <a:stretch>
            <a:fillRect/>
          </a:stretch>
        </p:blipFill>
        <p:spPr>
          <a:xfrm>
            <a:off x="6400800" y="1787265"/>
            <a:ext cx="4709160" cy="2963430"/>
          </a:xfrm>
          <a:prstGeom prst="rect">
            <a:avLst/>
          </a:prstGeom>
        </p:spPr>
      </p:pic>
      <p:sp>
        <p:nvSpPr>
          <p:cNvPr id="14" name="Text 11"/>
          <p:cNvSpPr/>
          <p:nvPr/>
        </p:nvSpPr>
        <p:spPr>
          <a:xfrm>
            <a:off x="9235440" y="6656832"/>
            <a:ext cx="2468880" cy="137160"/>
          </a:xfrm>
          <a:prstGeom prst="rect">
            <a:avLst/>
          </a:prstGeom>
          <a:noFill/>
          <a:ln/>
        </p:spPr>
        <p:txBody>
          <a:bodyPr wrap="square" lIns="0" tIns="0" rIns="0" bIns="0" rtlCol="0" anchor="ctr"/>
          <a:lstStyle/>
          <a:p>
            <a:pPr marL="0" indent="0" algn="r">
              <a:buNone/>
            </a:pPr>
            <a:r>
              <a:rPr lang="en-US" sz="800" dirty="0">
                <a:solidFill>
                  <a:srgbClr val="BA8FD4"/>
                </a:solidFill>
              </a:rPr>
              <a:t>NHIS Project 4  •  Neha Chhapariya  •  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0A1E"/>
        </a:solidFill>
        <a:effectLst/>
      </p:bgPr>
    </p:bg>
    <p:spTree>
      <p:nvGrpSpPr>
        <p:cNvPr id="1" name=""/>
        <p:cNvGrpSpPr/>
        <p:nvPr/>
      </p:nvGrpSpPr>
      <p:grpSpPr>
        <a:xfrm>
          <a:off x="0" y="0"/>
          <a:ext cx="0" cy="0"/>
          <a:chOff x="0" y="0"/>
          <a:chExt cx="0" cy="0"/>
        </a:xfrm>
      </p:grpSpPr>
      <p:sp>
        <p:nvSpPr>
          <p:cNvPr id="2" name="Shape 0"/>
          <p:cNvSpPr/>
          <p:nvPr/>
        </p:nvSpPr>
        <p:spPr>
          <a:xfrm>
            <a:off x="0" y="0"/>
            <a:ext cx="0" cy="6858000"/>
          </a:xfrm>
          <a:prstGeom prst="rect">
            <a:avLst/>
          </a:prstGeom>
          <a:solidFill>
            <a:srgbClr val="1A0A1E"/>
          </a:solidFill>
          <a:ln w="12700">
            <a:solidFill>
              <a:srgbClr val="1A0A1E"/>
            </a:solidFill>
            <a:prstDash val="solid"/>
          </a:ln>
        </p:spPr>
        <p:txBody>
          <a:bodyPr/>
          <a:lstStyle/>
          <a:p>
            <a:endParaRPr lang="en-IN"/>
          </a:p>
        </p:txBody>
      </p:sp>
      <p:sp>
        <p:nvSpPr>
          <p:cNvPr id="3" name="Shape 1"/>
          <p:cNvSpPr/>
          <p:nvPr/>
        </p:nvSpPr>
        <p:spPr>
          <a:xfrm>
            <a:off x="0" y="0"/>
            <a:ext cx="0" cy="0"/>
          </a:xfrm>
          <a:prstGeom prst="rect">
            <a:avLst/>
          </a:prstGeom>
          <a:solidFill>
            <a:srgbClr val="C0392B"/>
          </a:solidFill>
          <a:ln w="12700">
            <a:solidFill>
              <a:srgbClr val="C0392B"/>
            </a:solidFill>
            <a:prstDash val="solid"/>
          </a:ln>
        </p:spPr>
        <p:txBody>
          <a:bodyPr/>
          <a:lstStyle/>
          <a:p>
            <a:endParaRPr lang="en-IN"/>
          </a:p>
        </p:txBody>
      </p:sp>
      <p:sp>
        <p:nvSpPr>
          <p:cNvPr id="4" name="Shape 2"/>
          <p:cNvSpPr/>
          <p:nvPr/>
        </p:nvSpPr>
        <p:spPr>
          <a:xfrm>
            <a:off x="0" y="6601968"/>
            <a:ext cx="0" cy="256032"/>
          </a:xfrm>
          <a:prstGeom prst="rect">
            <a:avLst/>
          </a:prstGeom>
          <a:solidFill>
            <a:srgbClr val="1F0D25"/>
          </a:solidFill>
          <a:ln w="12700">
            <a:solidFill>
              <a:srgbClr val="1F0D25"/>
            </a:solidFill>
            <a:prstDash val="solid"/>
          </a:ln>
        </p:spPr>
        <p:txBody>
          <a:bodyPr/>
          <a:lstStyle/>
          <a:p>
            <a:endParaRPr lang="en-IN"/>
          </a:p>
        </p:txBody>
      </p:sp>
      <p:sp>
        <p:nvSpPr>
          <p:cNvPr id="5" name="Text 3"/>
          <p:cNvSpPr/>
          <p:nvPr/>
        </p:nvSpPr>
        <p:spPr>
          <a:xfrm>
            <a:off x="457200" y="320040"/>
            <a:ext cx="7132320" cy="411480"/>
          </a:xfrm>
          <a:prstGeom prst="rect">
            <a:avLst/>
          </a:prstGeom>
          <a:noFill/>
          <a:ln/>
        </p:spPr>
        <p:txBody>
          <a:bodyPr wrap="square" lIns="0" tIns="0" rIns="0" bIns="0" rtlCol="0" anchor="ctr"/>
          <a:lstStyle/>
          <a:p>
            <a:pPr marL="0" indent="0">
              <a:buNone/>
            </a:pPr>
            <a:r>
              <a:rPr lang="en-US" sz="2400" b="1" dirty="0">
                <a:solidFill>
                  <a:srgbClr val="F8F0FF"/>
                </a:solidFill>
                <a:latin typeface="Aptos Display" pitchFamily="34" charset="0"/>
                <a:ea typeface="Aptos Display" pitchFamily="34" charset="-122"/>
                <a:cs typeface="Aptos Display" pitchFamily="34" charset="-120"/>
              </a:rPr>
              <a:t>Project framing, workflow, and analytical objective</a:t>
            </a:r>
            <a:endParaRPr lang="en-US" sz="2400" dirty="0"/>
          </a:p>
        </p:txBody>
      </p:sp>
      <p:sp>
        <p:nvSpPr>
          <p:cNvPr id="6" name="Text 4"/>
          <p:cNvSpPr/>
          <p:nvPr/>
        </p:nvSpPr>
        <p:spPr>
          <a:xfrm>
            <a:off x="457200" y="731520"/>
            <a:ext cx="7863840" cy="219456"/>
          </a:xfrm>
          <a:prstGeom prst="rect">
            <a:avLst/>
          </a:prstGeom>
          <a:noFill/>
          <a:ln/>
        </p:spPr>
        <p:txBody>
          <a:bodyPr wrap="square" lIns="0" tIns="0" rIns="0" bIns="0" rtlCol="0" anchor="ctr"/>
          <a:lstStyle/>
          <a:p>
            <a:pPr marL="0" indent="0">
              <a:buNone/>
            </a:pPr>
            <a:r>
              <a:rPr lang="en-US" sz="950" dirty="0">
                <a:solidFill>
                  <a:srgbClr val="D7B8E8"/>
                </a:solidFill>
              </a:rPr>
              <a:t>What the notebook does and how the analysis was structured.</a:t>
            </a:r>
            <a:endParaRPr lang="en-US" sz="950" dirty="0"/>
          </a:p>
        </p:txBody>
      </p:sp>
      <p:sp>
        <p:nvSpPr>
          <p:cNvPr id="7" name="Text 5"/>
          <p:cNvSpPr/>
          <p:nvPr/>
        </p:nvSpPr>
        <p:spPr>
          <a:xfrm>
            <a:off x="9235440" y="6656832"/>
            <a:ext cx="2468880" cy="137160"/>
          </a:xfrm>
          <a:prstGeom prst="rect">
            <a:avLst/>
          </a:prstGeom>
          <a:noFill/>
          <a:ln/>
        </p:spPr>
        <p:txBody>
          <a:bodyPr wrap="square" lIns="0" tIns="0" rIns="0" bIns="0" rtlCol="0" anchor="ctr"/>
          <a:lstStyle/>
          <a:p>
            <a:pPr marL="0" indent="0" algn="r">
              <a:buNone/>
            </a:pPr>
            <a:r>
              <a:rPr lang="en-US" sz="800" dirty="0">
                <a:solidFill>
                  <a:srgbClr val="BA8FD4"/>
                </a:solidFill>
              </a:rPr>
              <a:t>NHIS Project 4  •  Neha Chhapariya  •  2</a:t>
            </a:r>
            <a:endParaRPr lang="en-US" sz="800" dirty="0"/>
          </a:p>
        </p:txBody>
      </p:sp>
      <p:sp>
        <p:nvSpPr>
          <p:cNvPr id="8" name="Shape 6"/>
          <p:cNvSpPr/>
          <p:nvPr/>
        </p:nvSpPr>
        <p:spPr>
          <a:xfrm>
            <a:off x="457200" y="1097280"/>
            <a:ext cx="3657600" cy="5029200"/>
          </a:xfrm>
          <a:prstGeom prst="roundRect">
            <a:avLst>
              <a:gd name="adj" fmla="val 2000"/>
            </a:avLst>
          </a:prstGeom>
          <a:solidFill>
            <a:srgbClr val="1E0E2E"/>
          </a:solidFill>
          <a:ln w="12700">
            <a:solidFill>
              <a:srgbClr val="5E2680"/>
            </a:solidFill>
            <a:prstDash val="solid"/>
          </a:ln>
        </p:spPr>
        <p:txBody>
          <a:bodyPr/>
          <a:lstStyle/>
          <a:p>
            <a:endParaRPr lang="en-IN"/>
          </a:p>
        </p:txBody>
      </p:sp>
      <p:sp>
        <p:nvSpPr>
          <p:cNvPr id="9" name="Text 7"/>
          <p:cNvSpPr/>
          <p:nvPr/>
        </p:nvSpPr>
        <p:spPr>
          <a:xfrm>
            <a:off x="621792" y="1207008"/>
            <a:ext cx="3328416" cy="201168"/>
          </a:xfrm>
          <a:prstGeom prst="rect">
            <a:avLst/>
          </a:prstGeom>
          <a:noFill/>
          <a:ln/>
        </p:spPr>
        <p:txBody>
          <a:bodyPr wrap="square" lIns="0" tIns="0" rIns="0" bIns="0" rtlCol="0" anchor="ctr"/>
          <a:lstStyle/>
          <a:p>
            <a:pPr marL="0" indent="0">
              <a:buNone/>
            </a:pPr>
            <a:r>
              <a:rPr lang="en-US" sz="1050" b="1" dirty="0">
                <a:solidFill>
                  <a:srgbClr val="F39C12"/>
                </a:solidFill>
              </a:rPr>
              <a:t>Project objective</a:t>
            </a:r>
            <a:endParaRPr lang="en-US" sz="1050" dirty="0"/>
          </a:p>
        </p:txBody>
      </p:sp>
      <p:sp>
        <p:nvSpPr>
          <p:cNvPr id="10" name="Text 8"/>
          <p:cNvSpPr/>
          <p:nvPr/>
        </p:nvSpPr>
        <p:spPr>
          <a:xfrm>
            <a:off x="658368" y="1508760"/>
            <a:ext cx="3246120" cy="2377440"/>
          </a:xfrm>
          <a:prstGeom prst="rect">
            <a:avLst/>
          </a:prstGeom>
          <a:noFill/>
          <a:ln/>
        </p:spPr>
        <p:txBody>
          <a:bodyPr wrap="square" lIns="254" tIns="254" rIns="254" bIns="254" rtlCol="0" anchor="t">
            <a:normAutofit/>
          </a:bodyPr>
          <a:lstStyle/>
          <a:p>
            <a:pPr marL="0" indent="0">
              <a:buNone/>
            </a:pPr>
            <a:r>
              <a:rPr lang="en-US" sz="1300" b="1" dirty="0">
                <a:solidFill>
                  <a:srgbClr val="C0392B"/>
                </a:solidFill>
              </a:rPr>
              <a:t>• </a:t>
            </a:r>
            <a:r>
              <a:rPr lang="en-US" sz="1300" dirty="0">
                <a:solidFill>
                  <a:srgbClr val="F8F0FF"/>
                </a:solidFill>
              </a:rPr>
              <a:t>Transform raw product attributes into clean, model-ready numeric features.
</a:t>
            </a:r>
            <a:r>
              <a:rPr lang="en-US" sz="1300" b="1" dirty="0">
                <a:solidFill>
                  <a:srgbClr val="C0392B"/>
                </a:solidFill>
              </a:rPr>
              <a:t>• </a:t>
            </a:r>
            <a:r>
              <a:rPr lang="en-US" sz="1300" dirty="0">
                <a:solidFill>
                  <a:srgbClr val="F8F0FF"/>
                </a:solidFill>
              </a:rPr>
              <a:t>Study which specifications actually explain mobile-phone prices.
</a:t>
            </a:r>
            <a:r>
              <a:rPr lang="en-US" sz="1300" b="1" dirty="0">
                <a:solidFill>
                  <a:srgbClr val="C0392B"/>
                </a:solidFill>
              </a:rPr>
              <a:t>• </a:t>
            </a:r>
            <a:r>
              <a:rPr lang="en-US" sz="1300" dirty="0">
                <a:solidFill>
                  <a:srgbClr val="F8F0FF"/>
                </a:solidFill>
              </a:rPr>
              <a:t>Separate high-signal variables from weak or misleading marketing features.
</a:t>
            </a:r>
            <a:r>
              <a:rPr lang="en-US" sz="1300" b="1" dirty="0">
                <a:solidFill>
                  <a:srgbClr val="C0392B"/>
                </a:solidFill>
              </a:rPr>
              <a:t>• </a:t>
            </a:r>
            <a:r>
              <a:rPr lang="en-US" sz="1300" dirty="0">
                <a:solidFill>
                  <a:srgbClr val="F8F0FF"/>
                </a:solidFill>
              </a:rPr>
              <a:t>Finish with a feature set ready for the first regression model.</a:t>
            </a:r>
            <a:endParaRPr lang="en-US" sz="1300" dirty="0"/>
          </a:p>
        </p:txBody>
      </p:sp>
      <p:sp>
        <p:nvSpPr>
          <p:cNvPr id="11" name="Shape 9"/>
          <p:cNvSpPr/>
          <p:nvPr/>
        </p:nvSpPr>
        <p:spPr>
          <a:xfrm>
            <a:off x="658368" y="3730752"/>
            <a:ext cx="3246120" cy="1783080"/>
          </a:xfrm>
          <a:prstGeom prst="roundRect">
            <a:avLst>
              <a:gd name="adj" fmla="val 2564"/>
            </a:avLst>
          </a:prstGeom>
          <a:solidFill>
            <a:srgbClr val="3D1155"/>
          </a:solidFill>
          <a:ln w="12700">
            <a:solidFill>
              <a:srgbClr val="F4A261"/>
            </a:solidFill>
            <a:prstDash val="solid"/>
          </a:ln>
        </p:spPr>
        <p:txBody>
          <a:bodyPr/>
          <a:lstStyle/>
          <a:p>
            <a:endParaRPr lang="en-IN"/>
          </a:p>
        </p:txBody>
      </p:sp>
      <p:sp>
        <p:nvSpPr>
          <p:cNvPr id="12" name="Text 10"/>
          <p:cNvSpPr/>
          <p:nvPr/>
        </p:nvSpPr>
        <p:spPr>
          <a:xfrm>
            <a:off x="786384" y="3822192"/>
            <a:ext cx="2990088" cy="0"/>
          </a:xfrm>
          <a:prstGeom prst="rect">
            <a:avLst/>
          </a:prstGeom>
          <a:noFill/>
          <a:ln/>
        </p:spPr>
        <p:txBody>
          <a:bodyPr wrap="square" lIns="0" tIns="0" rIns="0" bIns="0" rtlCol="0" anchor="ctr"/>
          <a:lstStyle/>
          <a:p>
            <a:pPr marL="0" indent="0">
              <a:buNone/>
            </a:pPr>
            <a:r>
              <a:rPr lang="en-US" sz="1000" b="1" dirty="0">
                <a:solidFill>
                  <a:srgbClr val="F4A261"/>
                </a:solidFill>
              </a:rPr>
              <a:t>Dataset snapshot</a:t>
            </a:r>
            <a:endParaRPr lang="en-US" sz="1000" dirty="0"/>
          </a:p>
        </p:txBody>
      </p:sp>
      <p:sp>
        <p:nvSpPr>
          <p:cNvPr id="13" name="Text 11"/>
          <p:cNvSpPr/>
          <p:nvPr/>
        </p:nvSpPr>
        <p:spPr>
          <a:xfrm>
            <a:off x="786384" y="4005072"/>
            <a:ext cx="2990088" cy="1453896"/>
          </a:xfrm>
          <a:prstGeom prst="rect">
            <a:avLst/>
          </a:prstGeom>
          <a:noFill/>
          <a:ln/>
        </p:spPr>
        <p:txBody>
          <a:bodyPr wrap="square" lIns="0" tIns="0" rIns="0" bIns="0" rtlCol="0" anchor="t">
            <a:normAutofit/>
          </a:bodyPr>
          <a:lstStyle/>
          <a:p>
            <a:pPr marL="0" indent="0">
              <a:buNone/>
            </a:pPr>
            <a:r>
              <a:rPr lang="en-US" sz="1050" dirty="0">
                <a:solidFill>
                  <a:srgbClr val="F8F0FF"/>
                </a:solidFill>
              </a:rPr>
              <a:t>541 mobile phones were analyzed across pricing, RAM, memory, processor, battery, camera, and other secondary attributes. The notebook also engineers extracted and derived features such as Camera Score, Price Tier, and RAM-Memory Ratio.</a:t>
            </a:r>
            <a:endParaRPr lang="en-US" sz="1050" dirty="0"/>
          </a:p>
        </p:txBody>
      </p:sp>
      <p:sp>
        <p:nvSpPr>
          <p:cNvPr id="14" name="Shape 12"/>
          <p:cNvSpPr/>
          <p:nvPr/>
        </p:nvSpPr>
        <p:spPr>
          <a:xfrm>
            <a:off x="4389120" y="1097280"/>
            <a:ext cx="7315200" cy="5029200"/>
          </a:xfrm>
          <a:prstGeom prst="roundRect">
            <a:avLst>
              <a:gd name="adj" fmla="val 1455"/>
            </a:avLst>
          </a:prstGeom>
          <a:solidFill>
            <a:srgbClr val="1E0E2E"/>
          </a:solidFill>
          <a:ln w="12700">
            <a:solidFill>
              <a:srgbClr val="5E2680"/>
            </a:solidFill>
            <a:prstDash val="solid"/>
          </a:ln>
        </p:spPr>
        <p:txBody>
          <a:bodyPr/>
          <a:lstStyle/>
          <a:p>
            <a:endParaRPr lang="en-IN"/>
          </a:p>
        </p:txBody>
      </p:sp>
      <p:sp>
        <p:nvSpPr>
          <p:cNvPr id="15" name="Text 13"/>
          <p:cNvSpPr/>
          <p:nvPr/>
        </p:nvSpPr>
        <p:spPr>
          <a:xfrm>
            <a:off x="4553712" y="1207008"/>
            <a:ext cx="6986016" cy="201168"/>
          </a:xfrm>
          <a:prstGeom prst="rect">
            <a:avLst/>
          </a:prstGeom>
          <a:noFill/>
          <a:ln/>
        </p:spPr>
        <p:txBody>
          <a:bodyPr wrap="square" lIns="0" tIns="0" rIns="0" bIns="0" rtlCol="0" anchor="ctr"/>
          <a:lstStyle/>
          <a:p>
            <a:pPr marL="0" indent="0">
              <a:buNone/>
            </a:pPr>
            <a:r>
              <a:rPr lang="en-US" sz="1050" b="1" dirty="0">
                <a:solidFill>
                  <a:srgbClr val="F39C12"/>
                </a:solidFill>
              </a:rPr>
              <a:t>Workflow</a:t>
            </a:r>
            <a:endParaRPr lang="en-US" sz="1050" dirty="0"/>
          </a:p>
        </p:txBody>
      </p:sp>
      <p:sp>
        <p:nvSpPr>
          <p:cNvPr id="16" name="Shape 14"/>
          <p:cNvSpPr/>
          <p:nvPr/>
        </p:nvSpPr>
        <p:spPr>
          <a:xfrm>
            <a:off x="4709160" y="1572768"/>
            <a:ext cx="2880360" cy="749808"/>
          </a:xfrm>
          <a:prstGeom prst="roundRect">
            <a:avLst>
              <a:gd name="adj" fmla="val 4878"/>
            </a:avLst>
          </a:prstGeom>
          <a:solidFill>
            <a:srgbClr val="3D1155"/>
          </a:solidFill>
          <a:ln w="12700">
            <a:solidFill>
              <a:srgbClr val="C0392B"/>
            </a:solidFill>
            <a:prstDash val="solid"/>
          </a:ln>
        </p:spPr>
        <p:txBody>
          <a:bodyPr/>
          <a:lstStyle/>
          <a:p>
            <a:endParaRPr lang="en-IN"/>
          </a:p>
        </p:txBody>
      </p:sp>
      <p:sp>
        <p:nvSpPr>
          <p:cNvPr id="17" name="Text 15"/>
          <p:cNvSpPr/>
          <p:nvPr/>
        </p:nvSpPr>
        <p:spPr>
          <a:xfrm>
            <a:off x="4837176" y="1700784"/>
            <a:ext cx="438912" cy="228600"/>
          </a:xfrm>
          <a:prstGeom prst="rect">
            <a:avLst/>
          </a:prstGeom>
          <a:noFill/>
          <a:ln/>
        </p:spPr>
        <p:txBody>
          <a:bodyPr wrap="square" lIns="0" tIns="0" rIns="0" bIns="0" rtlCol="0" anchor="ctr"/>
          <a:lstStyle/>
          <a:p>
            <a:pPr marL="0" indent="0" algn="ctr">
              <a:buNone/>
            </a:pPr>
            <a:r>
              <a:rPr lang="en-US" sz="1800" b="1" dirty="0">
                <a:solidFill>
                  <a:srgbClr val="C0392B"/>
                </a:solidFill>
              </a:rPr>
              <a:t>01</a:t>
            </a:r>
            <a:endParaRPr lang="en-US" sz="1800" dirty="0"/>
          </a:p>
        </p:txBody>
      </p:sp>
      <p:sp>
        <p:nvSpPr>
          <p:cNvPr id="18" name="Text 16"/>
          <p:cNvSpPr/>
          <p:nvPr/>
        </p:nvSpPr>
        <p:spPr>
          <a:xfrm>
            <a:off x="5367528" y="1728216"/>
            <a:ext cx="1993392" cy="201168"/>
          </a:xfrm>
          <a:prstGeom prst="rect">
            <a:avLst/>
          </a:prstGeom>
          <a:noFill/>
          <a:ln/>
        </p:spPr>
        <p:txBody>
          <a:bodyPr wrap="square" lIns="0" tIns="0" rIns="0" bIns="0" rtlCol="0" anchor="ctr"/>
          <a:lstStyle/>
          <a:p>
            <a:pPr marL="0" indent="0">
              <a:buNone/>
            </a:pPr>
            <a:r>
              <a:rPr lang="en-US" sz="1150" b="1" dirty="0">
                <a:solidFill>
                  <a:srgbClr val="F8F0FF"/>
                </a:solidFill>
              </a:rPr>
              <a:t>Load and inspect data</a:t>
            </a:r>
            <a:endParaRPr lang="en-US" sz="1150" dirty="0"/>
          </a:p>
        </p:txBody>
      </p:sp>
      <p:sp>
        <p:nvSpPr>
          <p:cNvPr id="19" name="Shape 17"/>
          <p:cNvSpPr/>
          <p:nvPr/>
        </p:nvSpPr>
        <p:spPr>
          <a:xfrm>
            <a:off x="4709160" y="2715768"/>
            <a:ext cx="2880360" cy="749808"/>
          </a:xfrm>
          <a:prstGeom prst="roundRect">
            <a:avLst>
              <a:gd name="adj" fmla="val 4878"/>
            </a:avLst>
          </a:prstGeom>
          <a:solidFill>
            <a:srgbClr val="3D1155"/>
          </a:solidFill>
          <a:ln w="12700">
            <a:solidFill>
              <a:srgbClr val="4CC9F0"/>
            </a:solidFill>
            <a:prstDash val="solid"/>
          </a:ln>
        </p:spPr>
        <p:txBody>
          <a:bodyPr/>
          <a:lstStyle/>
          <a:p>
            <a:endParaRPr lang="en-IN"/>
          </a:p>
        </p:txBody>
      </p:sp>
      <p:sp>
        <p:nvSpPr>
          <p:cNvPr id="20" name="Text 18"/>
          <p:cNvSpPr/>
          <p:nvPr/>
        </p:nvSpPr>
        <p:spPr>
          <a:xfrm>
            <a:off x="4837176" y="2843784"/>
            <a:ext cx="438912" cy="228600"/>
          </a:xfrm>
          <a:prstGeom prst="rect">
            <a:avLst/>
          </a:prstGeom>
          <a:noFill/>
          <a:ln/>
        </p:spPr>
        <p:txBody>
          <a:bodyPr wrap="square" lIns="0" tIns="0" rIns="0" bIns="0" rtlCol="0" anchor="ctr"/>
          <a:lstStyle/>
          <a:p>
            <a:pPr marL="0" indent="0" algn="ctr">
              <a:buNone/>
            </a:pPr>
            <a:r>
              <a:rPr lang="en-US" sz="1800" b="1" dirty="0">
                <a:solidFill>
                  <a:srgbClr val="4CC9F0"/>
                </a:solidFill>
              </a:rPr>
              <a:t>02</a:t>
            </a:r>
            <a:endParaRPr lang="en-US" sz="1800" dirty="0"/>
          </a:p>
        </p:txBody>
      </p:sp>
      <p:sp>
        <p:nvSpPr>
          <p:cNvPr id="21" name="Text 19"/>
          <p:cNvSpPr/>
          <p:nvPr/>
        </p:nvSpPr>
        <p:spPr>
          <a:xfrm>
            <a:off x="5367528" y="2871216"/>
            <a:ext cx="1993392" cy="201168"/>
          </a:xfrm>
          <a:prstGeom prst="rect">
            <a:avLst/>
          </a:prstGeom>
          <a:noFill/>
          <a:ln/>
        </p:spPr>
        <p:txBody>
          <a:bodyPr wrap="square" lIns="0" tIns="0" rIns="0" bIns="0" rtlCol="0" anchor="ctr"/>
          <a:lstStyle/>
          <a:p>
            <a:pPr marL="0" indent="0">
              <a:buNone/>
            </a:pPr>
            <a:r>
              <a:rPr lang="en-US" sz="1150" b="1" dirty="0">
                <a:solidFill>
                  <a:srgbClr val="F8F0FF"/>
                </a:solidFill>
              </a:rPr>
              <a:t>Fix and clean price / camera fields</a:t>
            </a:r>
            <a:endParaRPr lang="en-US" sz="1150" dirty="0"/>
          </a:p>
        </p:txBody>
      </p:sp>
      <p:sp>
        <p:nvSpPr>
          <p:cNvPr id="22" name="Shape 20"/>
          <p:cNvSpPr/>
          <p:nvPr/>
        </p:nvSpPr>
        <p:spPr>
          <a:xfrm>
            <a:off x="4709160" y="3858768"/>
            <a:ext cx="2880360" cy="749808"/>
          </a:xfrm>
          <a:prstGeom prst="roundRect">
            <a:avLst>
              <a:gd name="adj" fmla="val 4878"/>
            </a:avLst>
          </a:prstGeom>
          <a:solidFill>
            <a:srgbClr val="3D1155"/>
          </a:solidFill>
          <a:ln w="12700">
            <a:solidFill>
              <a:srgbClr val="F4A261"/>
            </a:solidFill>
            <a:prstDash val="solid"/>
          </a:ln>
        </p:spPr>
        <p:txBody>
          <a:bodyPr/>
          <a:lstStyle/>
          <a:p>
            <a:endParaRPr lang="en-IN"/>
          </a:p>
        </p:txBody>
      </p:sp>
      <p:sp>
        <p:nvSpPr>
          <p:cNvPr id="23" name="Text 21"/>
          <p:cNvSpPr/>
          <p:nvPr/>
        </p:nvSpPr>
        <p:spPr>
          <a:xfrm>
            <a:off x="4837176" y="3986784"/>
            <a:ext cx="438912" cy="228600"/>
          </a:xfrm>
          <a:prstGeom prst="rect">
            <a:avLst/>
          </a:prstGeom>
          <a:noFill/>
          <a:ln/>
        </p:spPr>
        <p:txBody>
          <a:bodyPr wrap="square" lIns="0" tIns="0" rIns="0" bIns="0" rtlCol="0" anchor="ctr"/>
          <a:lstStyle/>
          <a:p>
            <a:pPr marL="0" indent="0" algn="ctr">
              <a:buNone/>
            </a:pPr>
            <a:r>
              <a:rPr lang="en-US" sz="1800" b="1" dirty="0">
                <a:solidFill>
                  <a:srgbClr val="F4A261"/>
                </a:solidFill>
              </a:rPr>
              <a:t>03</a:t>
            </a:r>
            <a:endParaRPr lang="en-US" sz="1800" dirty="0"/>
          </a:p>
        </p:txBody>
      </p:sp>
      <p:sp>
        <p:nvSpPr>
          <p:cNvPr id="24" name="Text 22"/>
          <p:cNvSpPr/>
          <p:nvPr/>
        </p:nvSpPr>
        <p:spPr>
          <a:xfrm>
            <a:off x="5367528" y="4014216"/>
            <a:ext cx="1993392" cy="201168"/>
          </a:xfrm>
          <a:prstGeom prst="rect">
            <a:avLst/>
          </a:prstGeom>
          <a:noFill/>
          <a:ln/>
        </p:spPr>
        <p:txBody>
          <a:bodyPr wrap="square" lIns="0" tIns="0" rIns="0" bIns="0" rtlCol="0" anchor="ctr"/>
          <a:lstStyle/>
          <a:p>
            <a:pPr marL="0" indent="0">
              <a:buNone/>
            </a:pPr>
            <a:r>
              <a:rPr lang="en-US" sz="1150" b="1" dirty="0">
                <a:solidFill>
                  <a:srgbClr val="F8F0FF"/>
                </a:solidFill>
              </a:rPr>
              <a:t>Detect outliers and build engineered features</a:t>
            </a:r>
            <a:endParaRPr lang="en-US" sz="1150" dirty="0"/>
          </a:p>
        </p:txBody>
      </p:sp>
      <p:sp>
        <p:nvSpPr>
          <p:cNvPr id="25" name="Shape 23"/>
          <p:cNvSpPr/>
          <p:nvPr/>
        </p:nvSpPr>
        <p:spPr>
          <a:xfrm>
            <a:off x="8138160" y="1572768"/>
            <a:ext cx="2880360" cy="749808"/>
          </a:xfrm>
          <a:prstGeom prst="roundRect">
            <a:avLst>
              <a:gd name="adj" fmla="val 4878"/>
            </a:avLst>
          </a:prstGeom>
          <a:solidFill>
            <a:srgbClr val="3D1155"/>
          </a:solidFill>
          <a:ln w="12700">
            <a:solidFill>
              <a:srgbClr val="8D5CF6"/>
            </a:solidFill>
            <a:prstDash val="solid"/>
          </a:ln>
        </p:spPr>
        <p:txBody>
          <a:bodyPr/>
          <a:lstStyle/>
          <a:p>
            <a:endParaRPr lang="en-IN"/>
          </a:p>
        </p:txBody>
      </p:sp>
      <p:sp>
        <p:nvSpPr>
          <p:cNvPr id="26" name="Text 24"/>
          <p:cNvSpPr/>
          <p:nvPr/>
        </p:nvSpPr>
        <p:spPr>
          <a:xfrm>
            <a:off x="8266176" y="1700784"/>
            <a:ext cx="438912" cy="228600"/>
          </a:xfrm>
          <a:prstGeom prst="rect">
            <a:avLst/>
          </a:prstGeom>
          <a:noFill/>
          <a:ln/>
        </p:spPr>
        <p:txBody>
          <a:bodyPr wrap="square" lIns="0" tIns="0" rIns="0" bIns="0" rtlCol="0" anchor="ctr"/>
          <a:lstStyle/>
          <a:p>
            <a:pPr marL="0" indent="0" algn="ctr">
              <a:buNone/>
            </a:pPr>
            <a:r>
              <a:rPr lang="en-US" sz="1800" b="1" dirty="0">
                <a:solidFill>
                  <a:srgbClr val="8D5CF6"/>
                </a:solidFill>
              </a:rPr>
              <a:t>04</a:t>
            </a:r>
            <a:endParaRPr lang="en-US" sz="1800" dirty="0"/>
          </a:p>
        </p:txBody>
      </p:sp>
      <p:sp>
        <p:nvSpPr>
          <p:cNvPr id="27" name="Text 25"/>
          <p:cNvSpPr/>
          <p:nvPr/>
        </p:nvSpPr>
        <p:spPr>
          <a:xfrm>
            <a:off x="8796528" y="1728216"/>
            <a:ext cx="1993392" cy="201168"/>
          </a:xfrm>
          <a:prstGeom prst="rect">
            <a:avLst/>
          </a:prstGeom>
          <a:noFill/>
          <a:ln/>
        </p:spPr>
        <p:txBody>
          <a:bodyPr wrap="square" lIns="0" tIns="0" rIns="0" bIns="0" rtlCol="0" anchor="ctr"/>
          <a:lstStyle/>
          <a:p>
            <a:pPr marL="0" indent="0">
              <a:buNone/>
            </a:pPr>
            <a:r>
              <a:rPr lang="en-US" sz="1150" b="1" dirty="0">
                <a:solidFill>
                  <a:srgbClr val="F8F0FF"/>
                </a:solidFill>
              </a:rPr>
              <a:t>Visualize pricing behavior and segment shape</a:t>
            </a:r>
            <a:endParaRPr lang="en-US" sz="1150" dirty="0"/>
          </a:p>
        </p:txBody>
      </p:sp>
      <p:sp>
        <p:nvSpPr>
          <p:cNvPr id="28" name="Shape 26"/>
          <p:cNvSpPr/>
          <p:nvPr/>
        </p:nvSpPr>
        <p:spPr>
          <a:xfrm>
            <a:off x="8138160" y="2715768"/>
            <a:ext cx="2880360" cy="749808"/>
          </a:xfrm>
          <a:prstGeom prst="roundRect">
            <a:avLst>
              <a:gd name="adj" fmla="val 4878"/>
            </a:avLst>
          </a:prstGeom>
          <a:solidFill>
            <a:srgbClr val="3D1155"/>
          </a:solidFill>
          <a:ln w="12700">
            <a:solidFill>
              <a:srgbClr val="EF476F"/>
            </a:solidFill>
            <a:prstDash val="solid"/>
          </a:ln>
        </p:spPr>
        <p:txBody>
          <a:bodyPr/>
          <a:lstStyle/>
          <a:p>
            <a:endParaRPr lang="en-IN"/>
          </a:p>
        </p:txBody>
      </p:sp>
      <p:sp>
        <p:nvSpPr>
          <p:cNvPr id="29" name="Text 27"/>
          <p:cNvSpPr/>
          <p:nvPr/>
        </p:nvSpPr>
        <p:spPr>
          <a:xfrm>
            <a:off x="8266176" y="2843784"/>
            <a:ext cx="438912" cy="228600"/>
          </a:xfrm>
          <a:prstGeom prst="rect">
            <a:avLst/>
          </a:prstGeom>
          <a:noFill/>
          <a:ln/>
        </p:spPr>
        <p:txBody>
          <a:bodyPr wrap="square" lIns="0" tIns="0" rIns="0" bIns="0" rtlCol="0" anchor="ctr"/>
          <a:lstStyle/>
          <a:p>
            <a:pPr marL="0" indent="0" algn="ctr">
              <a:buNone/>
            </a:pPr>
            <a:r>
              <a:rPr lang="en-US" sz="1800" b="1" dirty="0">
                <a:solidFill>
                  <a:srgbClr val="EF476F"/>
                </a:solidFill>
              </a:rPr>
              <a:t>05</a:t>
            </a:r>
            <a:endParaRPr lang="en-US" sz="1800" dirty="0"/>
          </a:p>
        </p:txBody>
      </p:sp>
      <p:sp>
        <p:nvSpPr>
          <p:cNvPr id="30" name="Text 28"/>
          <p:cNvSpPr/>
          <p:nvPr/>
        </p:nvSpPr>
        <p:spPr>
          <a:xfrm>
            <a:off x="8796528" y="2871216"/>
            <a:ext cx="1993392" cy="201168"/>
          </a:xfrm>
          <a:prstGeom prst="rect">
            <a:avLst/>
          </a:prstGeom>
          <a:noFill/>
          <a:ln/>
        </p:spPr>
        <p:txBody>
          <a:bodyPr wrap="square" lIns="0" tIns="0" rIns="0" bIns="0" rtlCol="0" anchor="ctr"/>
          <a:lstStyle/>
          <a:p>
            <a:pPr marL="0" indent="0">
              <a:buNone/>
            </a:pPr>
            <a:r>
              <a:rPr lang="en-US" sz="1150" b="1" dirty="0">
                <a:solidFill>
                  <a:srgbClr val="F8F0FF"/>
                </a:solidFill>
              </a:rPr>
              <a:t>Rank variables by pricing strength</a:t>
            </a:r>
            <a:endParaRPr lang="en-US" sz="1150" dirty="0"/>
          </a:p>
        </p:txBody>
      </p:sp>
      <p:sp>
        <p:nvSpPr>
          <p:cNvPr id="31" name="Shape 29"/>
          <p:cNvSpPr/>
          <p:nvPr/>
        </p:nvSpPr>
        <p:spPr>
          <a:xfrm>
            <a:off x="8138160" y="3858768"/>
            <a:ext cx="2880360" cy="749808"/>
          </a:xfrm>
          <a:prstGeom prst="roundRect">
            <a:avLst>
              <a:gd name="adj" fmla="val 4878"/>
            </a:avLst>
          </a:prstGeom>
          <a:solidFill>
            <a:srgbClr val="3D1155"/>
          </a:solidFill>
          <a:ln w="12700">
            <a:solidFill>
              <a:srgbClr val="F39C12"/>
            </a:solidFill>
            <a:prstDash val="solid"/>
          </a:ln>
        </p:spPr>
        <p:txBody>
          <a:bodyPr/>
          <a:lstStyle/>
          <a:p>
            <a:endParaRPr lang="en-IN"/>
          </a:p>
        </p:txBody>
      </p:sp>
      <p:sp>
        <p:nvSpPr>
          <p:cNvPr id="32" name="Text 30"/>
          <p:cNvSpPr/>
          <p:nvPr/>
        </p:nvSpPr>
        <p:spPr>
          <a:xfrm>
            <a:off x="8266176" y="3986784"/>
            <a:ext cx="438912" cy="228600"/>
          </a:xfrm>
          <a:prstGeom prst="rect">
            <a:avLst/>
          </a:prstGeom>
          <a:noFill/>
          <a:ln/>
        </p:spPr>
        <p:txBody>
          <a:bodyPr wrap="square" lIns="0" tIns="0" rIns="0" bIns="0" rtlCol="0" anchor="ctr"/>
          <a:lstStyle/>
          <a:p>
            <a:pPr marL="0" indent="0" algn="ctr">
              <a:buNone/>
            </a:pPr>
            <a:r>
              <a:rPr lang="en-US" sz="1800" b="1" dirty="0">
                <a:solidFill>
                  <a:srgbClr val="F39C12"/>
                </a:solidFill>
              </a:rPr>
              <a:t>06</a:t>
            </a:r>
            <a:endParaRPr lang="en-US" sz="1800" dirty="0"/>
          </a:p>
        </p:txBody>
      </p:sp>
      <p:sp>
        <p:nvSpPr>
          <p:cNvPr id="33" name="Text 31"/>
          <p:cNvSpPr/>
          <p:nvPr/>
        </p:nvSpPr>
        <p:spPr>
          <a:xfrm>
            <a:off x="8796528" y="4014216"/>
            <a:ext cx="1993392" cy="201168"/>
          </a:xfrm>
          <a:prstGeom prst="rect">
            <a:avLst/>
          </a:prstGeom>
          <a:noFill/>
          <a:ln/>
        </p:spPr>
        <p:txBody>
          <a:bodyPr wrap="square" lIns="0" tIns="0" rIns="0" bIns="0" rtlCol="0" anchor="ctr"/>
          <a:lstStyle/>
          <a:p>
            <a:pPr marL="0" indent="0">
              <a:buNone/>
            </a:pPr>
            <a:r>
              <a:rPr lang="en-US" sz="1150" b="1" dirty="0">
                <a:solidFill>
                  <a:srgbClr val="F8F0FF"/>
                </a:solidFill>
              </a:rPr>
              <a:t>Prepare final ML-ready dataset</a:t>
            </a:r>
            <a:endParaRPr lang="en-US" sz="1150" dirty="0"/>
          </a:p>
        </p:txBody>
      </p:sp>
      <p:sp>
        <p:nvSpPr>
          <p:cNvPr id="34" name="Shape 32"/>
          <p:cNvSpPr/>
          <p:nvPr/>
        </p:nvSpPr>
        <p:spPr>
          <a:xfrm>
            <a:off x="4709160" y="5074920"/>
            <a:ext cx="6629400" cy="749808"/>
          </a:xfrm>
          <a:prstGeom prst="roundRect">
            <a:avLst>
              <a:gd name="adj" fmla="val 6098"/>
            </a:avLst>
          </a:prstGeom>
          <a:solidFill>
            <a:srgbClr val="3D1155"/>
          </a:solidFill>
          <a:ln w="12700">
            <a:solidFill>
              <a:srgbClr val="C0392B"/>
            </a:solidFill>
            <a:prstDash val="solid"/>
          </a:ln>
        </p:spPr>
        <p:txBody>
          <a:bodyPr/>
          <a:lstStyle/>
          <a:p>
            <a:endParaRPr lang="en-IN"/>
          </a:p>
        </p:txBody>
      </p:sp>
      <p:sp>
        <p:nvSpPr>
          <p:cNvPr id="35" name="Text 33"/>
          <p:cNvSpPr/>
          <p:nvPr/>
        </p:nvSpPr>
        <p:spPr>
          <a:xfrm>
            <a:off x="4837176" y="5166360"/>
            <a:ext cx="6373368" cy="0"/>
          </a:xfrm>
          <a:prstGeom prst="rect">
            <a:avLst/>
          </a:prstGeom>
          <a:noFill/>
          <a:ln/>
        </p:spPr>
        <p:txBody>
          <a:bodyPr wrap="square" lIns="0" tIns="0" rIns="0" bIns="0" rtlCol="0" anchor="ctr"/>
          <a:lstStyle/>
          <a:p>
            <a:pPr marL="0" indent="0">
              <a:buNone/>
            </a:pPr>
            <a:r>
              <a:rPr lang="en-US" sz="1000" b="1" dirty="0">
                <a:solidFill>
                  <a:srgbClr val="C0392B"/>
                </a:solidFill>
              </a:rPr>
              <a:t>Submission standard</a:t>
            </a:r>
            <a:endParaRPr lang="en-US" sz="1000" dirty="0"/>
          </a:p>
        </p:txBody>
      </p:sp>
      <p:sp>
        <p:nvSpPr>
          <p:cNvPr id="36" name="Text 34"/>
          <p:cNvSpPr/>
          <p:nvPr/>
        </p:nvSpPr>
        <p:spPr>
          <a:xfrm>
            <a:off x="4837176" y="5349240"/>
            <a:ext cx="6373368" cy="420624"/>
          </a:xfrm>
          <a:prstGeom prst="rect">
            <a:avLst/>
          </a:prstGeom>
          <a:noFill/>
          <a:ln/>
        </p:spPr>
        <p:txBody>
          <a:bodyPr wrap="square" lIns="0" tIns="0" rIns="0" bIns="0" rtlCol="0" anchor="t">
            <a:normAutofit/>
          </a:bodyPr>
          <a:lstStyle/>
          <a:p>
            <a:pPr marL="0" indent="0">
              <a:buNone/>
            </a:pPr>
            <a:r>
              <a:rPr lang="en-US" sz="1050" dirty="0">
                <a:solidFill>
                  <a:srgbClr val="F8F0FF"/>
                </a:solidFill>
              </a:rPr>
              <a:t>Every key chart is followed by an interpretation that goes beyond description: observation, analytical insight, business meaning, and recommended action.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0A1E"/>
        </a:solidFill>
        <a:effectLst/>
      </p:bgPr>
    </p:bg>
    <p:spTree>
      <p:nvGrpSpPr>
        <p:cNvPr id="1" name=""/>
        <p:cNvGrpSpPr/>
        <p:nvPr/>
      </p:nvGrpSpPr>
      <p:grpSpPr>
        <a:xfrm>
          <a:off x="0" y="0"/>
          <a:ext cx="0" cy="0"/>
          <a:chOff x="0" y="0"/>
          <a:chExt cx="0" cy="0"/>
        </a:xfrm>
      </p:grpSpPr>
      <p:sp>
        <p:nvSpPr>
          <p:cNvPr id="2" name="Shape 0"/>
          <p:cNvSpPr/>
          <p:nvPr/>
        </p:nvSpPr>
        <p:spPr>
          <a:xfrm>
            <a:off x="0" y="0"/>
            <a:ext cx="0" cy="6858000"/>
          </a:xfrm>
          <a:prstGeom prst="rect">
            <a:avLst/>
          </a:prstGeom>
          <a:solidFill>
            <a:srgbClr val="1A0A1E"/>
          </a:solidFill>
          <a:ln w="12700">
            <a:solidFill>
              <a:srgbClr val="1A0A1E"/>
            </a:solidFill>
            <a:prstDash val="solid"/>
          </a:ln>
        </p:spPr>
        <p:txBody>
          <a:bodyPr/>
          <a:lstStyle/>
          <a:p>
            <a:endParaRPr lang="en-IN"/>
          </a:p>
        </p:txBody>
      </p:sp>
      <p:sp>
        <p:nvSpPr>
          <p:cNvPr id="3" name="Shape 1"/>
          <p:cNvSpPr/>
          <p:nvPr/>
        </p:nvSpPr>
        <p:spPr>
          <a:xfrm>
            <a:off x="0" y="0"/>
            <a:ext cx="0" cy="0"/>
          </a:xfrm>
          <a:prstGeom prst="rect">
            <a:avLst/>
          </a:prstGeom>
          <a:solidFill>
            <a:srgbClr val="C0392B"/>
          </a:solidFill>
          <a:ln w="12700">
            <a:solidFill>
              <a:srgbClr val="C0392B"/>
            </a:solidFill>
            <a:prstDash val="solid"/>
          </a:ln>
        </p:spPr>
        <p:txBody>
          <a:bodyPr/>
          <a:lstStyle/>
          <a:p>
            <a:endParaRPr lang="en-IN"/>
          </a:p>
        </p:txBody>
      </p:sp>
      <p:sp>
        <p:nvSpPr>
          <p:cNvPr id="4" name="Shape 2"/>
          <p:cNvSpPr/>
          <p:nvPr/>
        </p:nvSpPr>
        <p:spPr>
          <a:xfrm>
            <a:off x="0" y="6601968"/>
            <a:ext cx="0" cy="256032"/>
          </a:xfrm>
          <a:prstGeom prst="rect">
            <a:avLst/>
          </a:prstGeom>
          <a:solidFill>
            <a:srgbClr val="1F0D25"/>
          </a:solidFill>
          <a:ln w="12700">
            <a:solidFill>
              <a:srgbClr val="1F0D25"/>
            </a:solidFill>
            <a:prstDash val="solid"/>
          </a:ln>
        </p:spPr>
        <p:txBody>
          <a:bodyPr/>
          <a:lstStyle/>
          <a:p>
            <a:endParaRPr lang="en-IN"/>
          </a:p>
        </p:txBody>
      </p:sp>
      <p:sp>
        <p:nvSpPr>
          <p:cNvPr id="5" name="Text 3"/>
          <p:cNvSpPr/>
          <p:nvPr/>
        </p:nvSpPr>
        <p:spPr>
          <a:xfrm>
            <a:off x="457200" y="320040"/>
            <a:ext cx="7132320" cy="411480"/>
          </a:xfrm>
          <a:prstGeom prst="rect">
            <a:avLst/>
          </a:prstGeom>
          <a:noFill/>
          <a:ln/>
        </p:spPr>
        <p:txBody>
          <a:bodyPr wrap="square" lIns="0" tIns="0" rIns="0" bIns="0" rtlCol="0" anchor="ctr"/>
          <a:lstStyle/>
          <a:p>
            <a:pPr marL="0" indent="0">
              <a:buNone/>
            </a:pPr>
            <a:r>
              <a:rPr lang="en-US" sz="2400" b="1" dirty="0">
                <a:solidFill>
                  <a:srgbClr val="F8F0FF"/>
                </a:solidFill>
                <a:latin typeface="Aptos Display" pitchFamily="34" charset="0"/>
                <a:ea typeface="Aptos Display" pitchFamily="34" charset="-122"/>
                <a:cs typeface="Aptos Display" pitchFamily="34" charset="-120"/>
              </a:rPr>
              <a:t>Market shape and pricing landscape</a:t>
            </a:r>
            <a:endParaRPr lang="en-US" sz="2400" dirty="0"/>
          </a:p>
        </p:txBody>
      </p:sp>
      <p:sp>
        <p:nvSpPr>
          <p:cNvPr id="6" name="Text 4"/>
          <p:cNvSpPr/>
          <p:nvPr/>
        </p:nvSpPr>
        <p:spPr>
          <a:xfrm>
            <a:off x="457200" y="731520"/>
            <a:ext cx="7863840" cy="219456"/>
          </a:xfrm>
          <a:prstGeom prst="rect">
            <a:avLst/>
          </a:prstGeom>
          <a:noFill/>
          <a:ln/>
        </p:spPr>
        <p:txBody>
          <a:bodyPr wrap="square" lIns="0" tIns="0" rIns="0" bIns="0" rtlCol="0" anchor="ctr"/>
          <a:lstStyle/>
          <a:p>
            <a:pPr marL="0" indent="0">
              <a:buNone/>
            </a:pPr>
            <a:r>
              <a:rPr lang="en-US" sz="950" dirty="0">
                <a:solidFill>
                  <a:srgbClr val="D7B8E8"/>
                </a:solidFill>
              </a:rPr>
              <a:t>The market is broad in the budget and mid-range bands, while premium remains a narrow tail.</a:t>
            </a:r>
            <a:endParaRPr lang="en-US" sz="950" dirty="0"/>
          </a:p>
        </p:txBody>
      </p:sp>
      <p:sp>
        <p:nvSpPr>
          <p:cNvPr id="7" name="Text 5"/>
          <p:cNvSpPr/>
          <p:nvPr/>
        </p:nvSpPr>
        <p:spPr>
          <a:xfrm>
            <a:off x="9235440" y="6656832"/>
            <a:ext cx="2468880" cy="137160"/>
          </a:xfrm>
          <a:prstGeom prst="rect">
            <a:avLst/>
          </a:prstGeom>
          <a:noFill/>
          <a:ln/>
        </p:spPr>
        <p:txBody>
          <a:bodyPr wrap="square" lIns="0" tIns="0" rIns="0" bIns="0" rtlCol="0" anchor="ctr"/>
          <a:lstStyle/>
          <a:p>
            <a:pPr marL="0" indent="0" algn="r">
              <a:buNone/>
            </a:pPr>
            <a:r>
              <a:rPr lang="en-US" sz="800" dirty="0">
                <a:solidFill>
                  <a:srgbClr val="BA8FD4"/>
                </a:solidFill>
              </a:rPr>
              <a:t>NHIS Project 4  •  Neha Chhapariya  •  3</a:t>
            </a:r>
            <a:endParaRPr lang="en-US" sz="800" dirty="0"/>
          </a:p>
        </p:txBody>
      </p:sp>
      <p:sp>
        <p:nvSpPr>
          <p:cNvPr id="8" name="Shape 6"/>
          <p:cNvSpPr/>
          <p:nvPr/>
        </p:nvSpPr>
        <p:spPr>
          <a:xfrm>
            <a:off x="457200" y="1143000"/>
            <a:ext cx="5715000" cy="4114800"/>
          </a:xfrm>
          <a:prstGeom prst="roundRect">
            <a:avLst>
              <a:gd name="adj" fmla="val 1778"/>
            </a:avLst>
          </a:prstGeom>
          <a:solidFill>
            <a:srgbClr val="1E0E2E"/>
          </a:solidFill>
          <a:ln w="12700">
            <a:solidFill>
              <a:srgbClr val="5E2680"/>
            </a:solidFill>
            <a:prstDash val="solid"/>
          </a:ln>
        </p:spPr>
        <p:txBody>
          <a:bodyPr/>
          <a:lstStyle/>
          <a:p>
            <a:endParaRPr lang="en-IN"/>
          </a:p>
        </p:txBody>
      </p:sp>
      <p:sp>
        <p:nvSpPr>
          <p:cNvPr id="9" name="Text 7"/>
          <p:cNvSpPr/>
          <p:nvPr/>
        </p:nvSpPr>
        <p:spPr>
          <a:xfrm>
            <a:off x="621792" y="1252728"/>
            <a:ext cx="5385816" cy="201168"/>
          </a:xfrm>
          <a:prstGeom prst="rect">
            <a:avLst/>
          </a:prstGeom>
          <a:noFill/>
          <a:ln/>
        </p:spPr>
        <p:txBody>
          <a:bodyPr wrap="square" lIns="0" tIns="0" rIns="0" bIns="0" rtlCol="0" anchor="ctr"/>
          <a:lstStyle/>
          <a:p>
            <a:pPr marL="0" indent="0">
              <a:buNone/>
            </a:pPr>
            <a:r>
              <a:rPr lang="en-US" sz="1050" b="1" dirty="0">
                <a:solidFill>
                  <a:srgbClr val="F39C12"/>
                </a:solidFill>
              </a:rPr>
              <a:t>Price distribution</a:t>
            </a:r>
            <a:endParaRPr lang="en-US" sz="1050" dirty="0"/>
          </a:p>
        </p:txBody>
      </p:sp>
      <p:pic>
        <p:nvPicPr>
          <p:cNvPr id="10" name="Image 0" descr="/mnt/data/reena_assets/plot_25.png"/>
          <p:cNvPicPr>
            <a:picLocks noChangeAspect="1"/>
          </p:cNvPicPr>
          <p:nvPr/>
        </p:nvPicPr>
        <p:blipFill>
          <a:blip r:embed="rId3"/>
          <a:stretch>
            <a:fillRect/>
          </a:stretch>
        </p:blipFill>
        <p:spPr>
          <a:xfrm>
            <a:off x="566928" y="2080777"/>
            <a:ext cx="5495544" cy="2476990"/>
          </a:xfrm>
          <a:prstGeom prst="rect">
            <a:avLst/>
          </a:prstGeom>
        </p:spPr>
      </p:pic>
      <p:sp>
        <p:nvSpPr>
          <p:cNvPr id="11" name="Shape 8"/>
          <p:cNvSpPr/>
          <p:nvPr/>
        </p:nvSpPr>
        <p:spPr>
          <a:xfrm>
            <a:off x="6309360" y="1143000"/>
            <a:ext cx="5422392" cy="4114800"/>
          </a:xfrm>
          <a:prstGeom prst="roundRect">
            <a:avLst>
              <a:gd name="adj" fmla="val 1778"/>
            </a:avLst>
          </a:prstGeom>
          <a:solidFill>
            <a:srgbClr val="1E0E2E"/>
          </a:solidFill>
          <a:ln w="12700">
            <a:solidFill>
              <a:srgbClr val="5E2680"/>
            </a:solidFill>
            <a:prstDash val="solid"/>
          </a:ln>
        </p:spPr>
        <p:txBody>
          <a:bodyPr/>
          <a:lstStyle/>
          <a:p>
            <a:endParaRPr lang="en-IN"/>
          </a:p>
        </p:txBody>
      </p:sp>
      <p:sp>
        <p:nvSpPr>
          <p:cNvPr id="12" name="Text 9"/>
          <p:cNvSpPr/>
          <p:nvPr/>
        </p:nvSpPr>
        <p:spPr>
          <a:xfrm>
            <a:off x="6473952" y="1252728"/>
            <a:ext cx="5093208" cy="201168"/>
          </a:xfrm>
          <a:prstGeom prst="rect">
            <a:avLst/>
          </a:prstGeom>
          <a:noFill/>
          <a:ln/>
        </p:spPr>
        <p:txBody>
          <a:bodyPr wrap="square" lIns="0" tIns="0" rIns="0" bIns="0" rtlCol="0" anchor="ctr"/>
          <a:lstStyle/>
          <a:p>
            <a:pPr marL="0" indent="0">
              <a:buNone/>
            </a:pPr>
            <a:r>
              <a:rPr lang="en-US" sz="1050" b="1" dirty="0">
                <a:solidFill>
                  <a:srgbClr val="F39C12"/>
                </a:solidFill>
              </a:rPr>
              <a:t>Price tier distribution</a:t>
            </a:r>
            <a:endParaRPr lang="en-US" sz="1050" dirty="0"/>
          </a:p>
        </p:txBody>
      </p:sp>
      <p:pic>
        <p:nvPicPr>
          <p:cNvPr id="13" name="Image 1" descr="/mnt/data/reena_assets/plot_28.png"/>
          <p:cNvPicPr>
            <a:picLocks noChangeAspect="1"/>
          </p:cNvPicPr>
          <p:nvPr/>
        </p:nvPicPr>
        <p:blipFill>
          <a:blip r:embed="rId4"/>
          <a:stretch>
            <a:fillRect/>
          </a:stretch>
        </p:blipFill>
        <p:spPr>
          <a:xfrm>
            <a:off x="6419088" y="2205236"/>
            <a:ext cx="5202936" cy="2228071"/>
          </a:xfrm>
          <a:prstGeom prst="rect">
            <a:avLst/>
          </a:prstGeom>
        </p:spPr>
      </p:pic>
      <p:sp>
        <p:nvSpPr>
          <p:cNvPr id="14" name="Shape 10"/>
          <p:cNvSpPr/>
          <p:nvPr/>
        </p:nvSpPr>
        <p:spPr>
          <a:xfrm>
            <a:off x="594360" y="5468112"/>
            <a:ext cx="3657600" cy="868680"/>
          </a:xfrm>
          <a:prstGeom prst="roundRect">
            <a:avLst>
              <a:gd name="adj" fmla="val 5263"/>
            </a:avLst>
          </a:prstGeom>
          <a:solidFill>
            <a:srgbClr val="3D1155"/>
          </a:solidFill>
          <a:ln w="12700">
            <a:solidFill>
              <a:srgbClr val="C0392B"/>
            </a:solidFill>
            <a:prstDash val="solid"/>
          </a:ln>
        </p:spPr>
        <p:txBody>
          <a:bodyPr/>
          <a:lstStyle/>
          <a:p>
            <a:endParaRPr lang="en-IN"/>
          </a:p>
        </p:txBody>
      </p:sp>
      <p:sp>
        <p:nvSpPr>
          <p:cNvPr id="15" name="Text 11"/>
          <p:cNvSpPr/>
          <p:nvPr/>
        </p:nvSpPr>
        <p:spPr>
          <a:xfrm>
            <a:off x="722376" y="5559552"/>
            <a:ext cx="3401568" cy="0"/>
          </a:xfrm>
          <a:prstGeom prst="rect">
            <a:avLst/>
          </a:prstGeom>
          <a:noFill/>
          <a:ln/>
        </p:spPr>
        <p:txBody>
          <a:bodyPr wrap="square" lIns="0" tIns="0" rIns="0" bIns="0" rtlCol="0" anchor="ctr"/>
          <a:lstStyle/>
          <a:p>
            <a:pPr marL="0" indent="0">
              <a:buNone/>
            </a:pPr>
            <a:r>
              <a:rPr lang="en-US" sz="1000" b="1" dirty="0">
                <a:solidFill>
                  <a:srgbClr val="C0392B"/>
                </a:solidFill>
              </a:rPr>
              <a:t>What stands out</a:t>
            </a:r>
            <a:endParaRPr lang="en-US" sz="1000" dirty="0"/>
          </a:p>
        </p:txBody>
      </p:sp>
      <p:sp>
        <p:nvSpPr>
          <p:cNvPr id="16" name="Text 12"/>
          <p:cNvSpPr/>
          <p:nvPr/>
        </p:nvSpPr>
        <p:spPr>
          <a:xfrm>
            <a:off x="722376" y="5742432"/>
            <a:ext cx="3401568" cy="539496"/>
          </a:xfrm>
          <a:prstGeom prst="rect">
            <a:avLst/>
          </a:prstGeom>
          <a:noFill/>
          <a:ln/>
        </p:spPr>
        <p:txBody>
          <a:bodyPr wrap="square" lIns="0" tIns="0" rIns="0" bIns="0" rtlCol="0" anchor="t">
            <a:normAutofit/>
          </a:bodyPr>
          <a:lstStyle/>
          <a:p>
            <a:pPr marL="0" indent="0">
              <a:buNone/>
            </a:pPr>
            <a:r>
              <a:rPr lang="en-US" sz="1050" dirty="0">
                <a:solidFill>
                  <a:srgbClr val="F8F0FF"/>
                </a:solidFill>
              </a:rPr>
              <a:t>Most listings are concentrated below ₹20K. The distribution is right-skewed, which means premium models pull the average upward but do not represent the typical phone in the dataset.</a:t>
            </a:r>
            <a:endParaRPr lang="en-US" sz="1050" dirty="0"/>
          </a:p>
        </p:txBody>
      </p:sp>
      <p:sp>
        <p:nvSpPr>
          <p:cNvPr id="17" name="Shape 13"/>
          <p:cNvSpPr/>
          <p:nvPr/>
        </p:nvSpPr>
        <p:spPr>
          <a:xfrm>
            <a:off x="4407408" y="5468112"/>
            <a:ext cx="3657600" cy="868680"/>
          </a:xfrm>
          <a:prstGeom prst="roundRect">
            <a:avLst>
              <a:gd name="adj" fmla="val 5263"/>
            </a:avLst>
          </a:prstGeom>
          <a:solidFill>
            <a:srgbClr val="3D1155"/>
          </a:solidFill>
          <a:ln w="12700">
            <a:solidFill>
              <a:srgbClr val="F4A261"/>
            </a:solidFill>
            <a:prstDash val="solid"/>
          </a:ln>
        </p:spPr>
        <p:txBody>
          <a:bodyPr/>
          <a:lstStyle/>
          <a:p>
            <a:endParaRPr lang="en-IN"/>
          </a:p>
        </p:txBody>
      </p:sp>
      <p:sp>
        <p:nvSpPr>
          <p:cNvPr id="18" name="Text 14"/>
          <p:cNvSpPr/>
          <p:nvPr/>
        </p:nvSpPr>
        <p:spPr>
          <a:xfrm>
            <a:off x="4535424" y="5559552"/>
            <a:ext cx="3401568" cy="0"/>
          </a:xfrm>
          <a:prstGeom prst="rect">
            <a:avLst/>
          </a:prstGeom>
          <a:noFill/>
          <a:ln/>
        </p:spPr>
        <p:txBody>
          <a:bodyPr wrap="square" lIns="0" tIns="0" rIns="0" bIns="0" rtlCol="0" anchor="ctr"/>
          <a:lstStyle/>
          <a:p>
            <a:pPr marL="0" indent="0">
              <a:buNone/>
            </a:pPr>
            <a:r>
              <a:rPr lang="en-US" sz="1000" b="1" dirty="0">
                <a:solidFill>
                  <a:srgbClr val="F4A261"/>
                </a:solidFill>
              </a:rPr>
              <a:t>Commercial reading</a:t>
            </a:r>
            <a:endParaRPr lang="en-US" sz="1000" dirty="0"/>
          </a:p>
        </p:txBody>
      </p:sp>
      <p:sp>
        <p:nvSpPr>
          <p:cNvPr id="19" name="Text 15"/>
          <p:cNvSpPr/>
          <p:nvPr/>
        </p:nvSpPr>
        <p:spPr>
          <a:xfrm>
            <a:off x="4535424" y="5742432"/>
            <a:ext cx="3401568" cy="539496"/>
          </a:xfrm>
          <a:prstGeom prst="rect">
            <a:avLst/>
          </a:prstGeom>
          <a:noFill/>
          <a:ln/>
        </p:spPr>
        <p:txBody>
          <a:bodyPr wrap="square" lIns="0" tIns="0" rIns="0" bIns="0" rtlCol="0" anchor="t">
            <a:normAutofit/>
          </a:bodyPr>
          <a:lstStyle/>
          <a:p>
            <a:pPr marL="0" indent="0">
              <a:buNone/>
            </a:pPr>
            <a:r>
              <a:rPr lang="en-US" sz="1050" dirty="0">
                <a:solidFill>
                  <a:srgbClr val="F8F0FF"/>
                </a:solidFill>
              </a:rPr>
              <a:t>Mid-Range is the center of gravity, Budget is the volume floor, and Premium is a halo segment. This is a classic pyramid market rather than a balanced price spread.</a:t>
            </a:r>
            <a:endParaRPr lang="en-US" sz="1050" dirty="0"/>
          </a:p>
        </p:txBody>
      </p:sp>
      <p:sp>
        <p:nvSpPr>
          <p:cNvPr id="20" name="Shape 16"/>
          <p:cNvSpPr/>
          <p:nvPr/>
        </p:nvSpPr>
        <p:spPr>
          <a:xfrm>
            <a:off x="8220456" y="5468112"/>
            <a:ext cx="2926080" cy="868680"/>
          </a:xfrm>
          <a:prstGeom prst="roundRect">
            <a:avLst>
              <a:gd name="adj" fmla="val 5263"/>
            </a:avLst>
          </a:prstGeom>
          <a:solidFill>
            <a:srgbClr val="3D1155"/>
          </a:solidFill>
          <a:ln w="12700">
            <a:solidFill>
              <a:srgbClr val="8D5CF6"/>
            </a:solidFill>
            <a:prstDash val="solid"/>
          </a:ln>
        </p:spPr>
        <p:txBody>
          <a:bodyPr/>
          <a:lstStyle/>
          <a:p>
            <a:endParaRPr lang="en-IN"/>
          </a:p>
        </p:txBody>
      </p:sp>
      <p:sp>
        <p:nvSpPr>
          <p:cNvPr id="21" name="Text 17"/>
          <p:cNvSpPr/>
          <p:nvPr/>
        </p:nvSpPr>
        <p:spPr>
          <a:xfrm>
            <a:off x="8348472" y="5559552"/>
            <a:ext cx="2670048" cy="0"/>
          </a:xfrm>
          <a:prstGeom prst="rect">
            <a:avLst/>
          </a:prstGeom>
          <a:noFill/>
          <a:ln/>
        </p:spPr>
        <p:txBody>
          <a:bodyPr wrap="square" lIns="0" tIns="0" rIns="0" bIns="0" rtlCol="0" anchor="ctr"/>
          <a:lstStyle/>
          <a:p>
            <a:pPr marL="0" indent="0">
              <a:buNone/>
            </a:pPr>
            <a:r>
              <a:rPr lang="en-US" sz="1000" b="1" dirty="0">
                <a:solidFill>
                  <a:srgbClr val="8D5CF6"/>
                </a:solidFill>
              </a:rPr>
              <a:t>Decision implication</a:t>
            </a:r>
            <a:endParaRPr lang="en-US" sz="1000" dirty="0"/>
          </a:p>
        </p:txBody>
      </p:sp>
      <p:sp>
        <p:nvSpPr>
          <p:cNvPr id="22" name="Text 18"/>
          <p:cNvSpPr/>
          <p:nvPr/>
        </p:nvSpPr>
        <p:spPr>
          <a:xfrm>
            <a:off x="8348472" y="5742432"/>
            <a:ext cx="2670048" cy="539496"/>
          </a:xfrm>
          <a:prstGeom prst="rect">
            <a:avLst/>
          </a:prstGeom>
          <a:noFill/>
          <a:ln/>
        </p:spPr>
        <p:txBody>
          <a:bodyPr wrap="square" lIns="0" tIns="0" rIns="0" bIns="0" rtlCol="0" anchor="t">
            <a:normAutofit/>
          </a:bodyPr>
          <a:lstStyle/>
          <a:p>
            <a:pPr marL="0" indent="0">
              <a:buNone/>
            </a:pPr>
            <a:r>
              <a:rPr lang="en-US" sz="1050" dirty="0">
                <a:solidFill>
                  <a:srgbClr val="F8F0FF"/>
                </a:solidFill>
              </a:rPr>
              <a:t>Pricing strategy should be optimized for the ₹10K–₹20K zone first. Premium positioning matters, but mainly for prestige and margin rather than scale.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0A1E"/>
        </a:solidFill>
        <a:effectLst/>
      </p:bgPr>
    </p:bg>
    <p:spTree>
      <p:nvGrpSpPr>
        <p:cNvPr id="1" name=""/>
        <p:cNvGrpSpPr/>
        <p:nvPr/>
      </p:nvGrpSpPr>
      <p:grpSpPr>
        <a:xfrm>
          <a:off x="0" y="0"/>
          <a:ext cx="0" cy="0"/>
          <a:chOff x="0" y="0"/>
          <a:chExt cx="0" cy="0"/>
        </a:xfrm>
      </p:grpSpPr>
      <p:sp>
        <p:nvSpPr>
          <p:cNvPr id="2" name="Shape 0"/>
          <p:cNvSpPr/>
          <p:nvPr/>
        </p:nvSpPr>
        <p:spPr>
          <a:xfrm>
            <a:off x="0" y="0"/>
            <a:ext cx="0" cy="6858000"/>
          </a:xfrm>
          <a:prstGeom prst="rect">
            <a:avLst/>
          </a:prstGeom>
          <a:solidFill>
            <a:srgbClr val="1A0A1E"/>
          </a:solidFill>
          <a:ln w="12700">
            <a:solidFill>
              <a:srgbClr val="1A0A1E"/>
            </a:solidFill>
            <a:prstDash val="solid"/>
          </a:ln>
        </p:spPr>
        <p:txBody>
          <a:bodyPr/>
          <a:lstStyle/>
          <a:p>
            <a:endParaRPr lang="en-IN"/>
          </a:p>
        </p:txBody>
      </p:sp>
      <p:sp>
        <p:nvSpPr>
          <p:cNvPr id="3" name="Shape 1"/>
          <p:cNvSpPr/>
          <p:nvPr/>
        </p:nvSpPr>
        <p:spPr>
          <a:xfrm>
            <a:off x="0" y="0"/>
            <a:ext cx="0" cy="0"/>
          </a:xfrm>
          <a:prstGeom prst="rect">
            <a:avLst/>
          </a:prstGeom>
          <a:solidFill>
            <a:srgbClr val="C0392B"/>
          </a:solidFill>
          <a:ln w="12700">
            <a:solidFill>
              <a:srgbClr val="C0392B"/>
            </a:solidFill>
            <a:prstDash val="solid"/>
          </a:ln>
        </p:spPr>
        <p:txBody>
          <a:bodyPr/>
          <a:lstStyle/>
          <a:p>
            <a:endParaRPr lang="en-IN"/>
          </a:p>
        </p:txBody>
      </p:sp>
      <p:sp>
        <p:nvSpPr>
          <p:cNvPr id="4" name="Shape 2"/>
          <p:cNvSpPr/>
          <p:nvPr/>
        </p:nvSpPr>
        <p:spPr>
          <a:xfrm>
            <a:off x="0" y="6601968"/>
            <a:ext cx="0" cy="256032"/>
          </a:xfrm>
          <a:prstGeom prst="rect">
            <a:avLst/>
          </a:prstGeom>
          <a:solidFill>
            <a:srgbClr val="1F0D25"/>
          </a:solidFill>
          <a:ln w="12700">
            <a:solidFill>
              <a:srgbClr val="1F0D25"/>
            </a:solidFill>
            <a:prstDash val="solid"/>
          </a:ln>
        </p:spPr>
        <p:txBody>
          <a:bodyPr/>
          <a:lstStyle/>
          <a:p>
            <a:endParaRPr lang="en-IN"/>
          </a:p>
        </p:txBody>
      </p:sp>
      <p:sp>
        <p:nvSpPr>
          <p:cNvPr id="5" name="Text 3"/>
          <p:cNvSpPr/>
          <p:nvPr/>
        </p:nvSpPr>
        <p:spPr>
          <a:xfrm>
            <a:off x="457200" y="320040"/>
            <a:ext cx="7132320" cy="411480"/>
          </a:xfrm>
          <a:prstGeom prst="rect">
            <a:avLst/>
          </a:prstGeom>
          <a:noFill/>
          <a:ln/>
        </p:spPr>
        <p:txBody>
          <a:bodyPr wrap="square" lIns="0" tIns="0" rIns="0" bIns="0" rtlCol="0" anchor="ctr"/>
          <a:lstStyle/>
          <a:p>
            <a:pPr marL="0" indent="0">
              <a:buNone/>
            </a:pPr>
            <a:r>
              <a:rPr lang="en-US" sz="2400" b="1" dirty="0">
                <a:solidFill>
                  <a:srgbClr val="F8F0FF"/>
                </a:solidFill>
                <a:latin typeface="Aptos Display" pitchFamily="34" charset="0"/>
                <a:ea typeface="Aptos Display" pitchFamily="34" charset="-122"/>
                <a:cs typeface="Aptos Display" pitchFamily="34" charset="-120"/>
              </a:rPr>
              <a:t>Core price drivers: RAM and internal storage</a:t>
            </a:r>
            <a:endParaRPr lang="en-US" sz="2400" dirty="0"/>
          </a:p>
        </p:txBody>
      </p:sp>
      <p:sp>
        <p:nvSpPr>
          <p:cNvPr id="6" name="Text 4"/>
          <p:cNvSpPr/>
          <p:nvPr/>
        </p:nvSpPr>
        <p:spPr>
          <a:xfrm>
            <a:off x="457200" y="731520"/>
            <a:ext cx="7863840" cy="219456"/>
          </a:xfrm>
          <a:prstGeom prst="rect">
            <a:avLst/>
          </a:prstGeom>
          <a:noFill/>
          <a:ln/>
        </p:spPr>
        <p:txBody>
          <a:bodyPr wrap="square" lIns="0" tIns="0" rIns="0" bIns="0" rtlCol="0" anchor="ctr"/>
          <a:lstStyle/>
          <a:p>
            <a:pPr marL="0" indent="0">
              <a:buNone/>
            </a:pPr>
            <a:r>
              <a:rPr lang="en-US" sz="950" dirty="0">
                <a:solidFill>
                  <a:srgbClr val="D7B8E8"/>
                </a:solidFill>
              </a:rPr>
              <a:t>Configuration variables explain pricing much more clearly than cosmetic or commodity features.</a:t>
            </a:r>
            <a:endParaRPr lang="en-US" sz="950" dirty="0"/>
          </a:p>
        </p:txBody>
      </p:sp>
      <p:sp>
        <p:nvSpPr>
          <p:cNvPr id="7" name="Text 5"/>
          <p:cNvSpPr/>
          <p:nvPr/>
        </p:nvSpPr>
        <p:spPr>
          <a:xfrm>
            <a:off x="9235440" y="6656832"/>
            <a:ext cx="2468880" cy="137160"/>
          </a:xfrm>
          <a:prstGeom prst="rect">
            <a:avLst/>
          </a:prstGeom>
          <a:noFill/>
          <a:ln/>
        </p:spPr>
        <p:txBody>
          <a:bodyPr wrap="square" lIns="0" tIns="0" rIns="0" bIns="0" rtlCol="0" anchor="ctr"/>
          <a:lstStyle/>
          <a:p>
            <a:pPr marL="0" indent="0" algn="r">
              <a:buNone/>
            </a:pPr>
            <a:r>
              <a:rPr lang="en-US" sz="800" dirty="0">
                <a:solidFill>
                  <a:srgbClr val="BA8FD4"/>
                </a:solidFill>
              </a:rPr>
              <a:t>NHIS Project 4  •  Neha Chhapariya  •  4</a:t>
            </a:r>
            <a:endParaRPr lang="en-US" sz="800" dirty="0"/>
          </a:p>
        </p:txBody>
      </p:sp>
      <p:sp>
        <p:nvSpPr>
          <p:cNvPr id="8" name="Shape 6"/>
          <p:cNvSpPr/>
          <p:nvPr/>
        </p:nvSpPr>
        <p:spPr>
          <a:xfrm>
            <a:off x="457200" y="0"/>
            <a:ext cx="5623560" cy="4160520"/>
          </a:xfrm>
          <a:prstGeom prst="roundRect">
            <a:avLst>
              <a:gd name="adj" fmla="val 1758"/>
            </a:avLst>
          </a:prstGeom>
          <a:solidFill>
            <a:srgbClr val="1E0E2E"/>
          </a:solidFill>
          <a:ln w="12700">
            <a:solidFill>
              <a:srgbClr val="5E2680"/>
            </a:solidFill>
            <a:prstDash val="solid"/>
          </a:ln>
        </p:spPr>
        <p:txBody>
          <a:bodyPr/>
          <a:lstStyle/>
          <a:p>
            <a:endParaRPr lang="en-IN"/>
          </a:p>
        </p:txBody>
      </p:sp>
      <p:sp>
        <p:nvSpPr>
          <p:cNvPr id="9" name="Text 7"/>
          <p:cNvSpPr/>
          <p:nvPr/>
        </p:nvSpPr>
        <p:spPr>
          <a:xfrm>
            <a:off x="621792" y="1225296"/>
            <a:ext cx="5294376" cy="201168"/>
          </a:xfrm>
          <a:prstGeom prst="rect">
            <a:avLst/>
          </a:prstGeom>
          <a:noFill/>
          <a:ln/>
        </p:spPr>
        <p:txBody>
          <a:bodyPr wrap="square" lIns="0" tIns="0" rIns="0" bIns="0" rtlCol="0" anchor="ctr"/>
          <a:lstStyle/>
          <a:p>
            <a:pPr marL="0" indent="0">
              <a:buNone/>
            </a:pPr>
            <a:r>
              <a:rPr lang="en-US" sz="1050" b="1" dirty="0">
                <a:solidFill>
                  <a:srgbClr val="F39C12"/>
                </a:solidFill>
              </a:rPr>
              <a:t>RAM vs price</a:t>
            </a:r>
            <a:endParaRPr lang="en-US" sz="1050" dirty="0"/>
          </a:p>
        </p:txBody>
      </p:sp>
      <p:pic>
        <p:nvPicPr>
          <p:cNvPr id="10" name="Image 0" descr="/mnt/data/reena_assets/plot_31.png"/>
          <p:cNvPicPr>
            <a:picLocks noChangeAspect="1"/>
          </p:cNvPicPr>
          <p:nvPr/>
        </p:nvPicPr>
        <p:blipFill>
          <a:blip r:embed="rId3"/>
          <a:stretch>
            <a:fillRect/>
          </a:stretch>
        </p:blipFill>
        <p:spPr>
          <a:xfrm>
            <a:off x="566928" y="2258390"/>
            <a:ext cx="5404104" cy="2112619"/>
          </a:xfrm>
          <a:prstGeom prst="rect">
            <a:avLst/>
          </a:prstGeom>
        </p:spPr>
      </p:pic>
      <p:sp>
        <p:nvSpPr>
          <p:cNvPr id="11" name="Shape 8"/>
          <p:cNvSpPr/>
          <p:nvPr/>
        </p:nvSpPr>
        <p:spPr>
          <a:xfrm>
            <a:off x="6236208" y="0"/>
            <a:ext cx="5486400" cy="4160520"/>
          </a:xfrm>
          <a:prstGeom prst="roundRect">
            <a:avLst>
              <a:gd name="adj" fmla="val 1758"/>
            </a:avLst>
          </a:prstGeom>
          <a:solidFill>
            <a:srgbClr val="1E0E2E"/>
          </a:solidFill>
          <a:ln w="12700">
            <a:solidFill>
              <a:srgbClr val="5E2680"/>
            </a:solidFill>
            <a:prstDash val="solid"/>
          </a:ln>
        </p:spPr>
        <p:txBody>
          <a:bodyPr/>
          <a:lstStyle/>
          <a:p>
            <a:endParaRPr lang="en-IN"/>
          </a:p>
        </p:txBody>
      </p:sp>
      <p:sp>
        <p:nvSpPr>
          <p:cNvPr id="12" name="Text 9"/>
          <p:cNvSpPr/>
          <p:nvPr/>
        </p:nvSpPr>
        <p:spPr>
          <a:xfrm>
            <a:off x="6400800" y="1225296"/>
            <a:ext cx="5157216" cy="201168"/>
          </a:xfrm>
          <a:prstGeom prst="rect">
            <a:avLst/>
          </a:prstGeom>
          <a:noFill/>
          <a:ln/>
        </p:spPr>
        <p:txBody>
          <a:bodyPr wrap="square" lIns="0" tIns="0" rIns="0" bIns="0" rtlCol="0" anchor="ctr"/>
          <a:lstStyle/>
          <a:p>
            <a:pPr marL="0" indent="0">
              <a:buNone/>
            </a:pPr>
            <a:r>
              <a:rPr lang="en-US" sz="1050" b="1" dirty="0">
                <a:solidFill>
                  <a:srgbClr val="F39C12"/>
                </a:solidFill>
              </a:rPr>
              <a:t>Storage vs price</a:t>
            </a:r>
            <a:endParaRPr lang="en-US" sz="1050" dirty="0"/>
          </a:p>
        </p:txBody>
      </p:sp>
      <p:pic>
        <p:nvPicPr>
          <p:cNvPr id="13" name="Image 1" descr="/mnt/data/reena_assets/plot_37.png"/>
          <p:cNvPicPr>
            <a:picLocks noChangeAspect="1"/>
          </p:cNvPicPr>
          <p:nvPr/>
        </p:nvPicPr>
        <p:blipFill>
          <a:blip r:embed="rId4"/>
          <a:stretch>
            <a:fillRect/>
          </a:stretch>
        </p:blipFill>
        <p:spPr>
          <a:xfrm>
            <a:off x="6345936" y="2285200"/>
            <a:ext cx="5266944" cy="2059000"/>
          </a:xfrm>
          <a:prstGeom prst="rect">
            <a:avLst/>
          </a:prstGeom>
        </p:spPr>
      </p:pic>
      <p:sp>
        <p:nvSpPr>
          <p:cNvPr id="14" name="Shape 10"/>
          <p:cNvSpPr/>
          <p:nvPr/>
        </p:nvSpPr>
        <p:spPr>
          <a:xfrm>
            <a:off x="640080" y="5449824"/>
            <a:ext cx="3703320" cy="886968"/>
          </a:xfrm>
          <a:prstGeom prst="roundRect">
            <a:avLst>
              <a:gd name="adj" fmla="val 5155"/>
            </a:avLst>
          </a:prstGeom>
          <a:solidFill>
            <a:srgbClr val="3D1155"/>
          </a:solidFill>
          <a:ln w="12700">
            <a:solidFill>
              <a:srgbClr val="C0392B"/>
            </a:solidFill>
            <a:prstDash val="solid"/>
          </a:ln>
        </p:spPr>
        <p:txBody>
          <a:bodyPr/>
          <a:lstStyle/>
          <a:p>
            <a:endParaRPr lang="en-IN"/>
          </a:p>
        </p:txBody>
      </p:sp>
      <p:sp>
        <p:nvSpPr>
          <p:cNvPr id="15" name="Text 11"/>
          <p:cNvSpPr/>
          <p:nvPr/>
        </p:nvSpPr>
        <p:spPr>
          <a:xfrm>
            <a:off x="768096" y="5541264"/>
            <a:ext cx="3447288" cy="0"/>
          </a:xfrm>
          <a:prstGeom prst="rect">
            <a:avLst/>
          </a:prstGeom>
          <a:noFill/>
          <a:ln/>
        </p:spPr>
        <p:txBody>
          <a:bodyPr wrap="square" lIns="0" tIns="0" rIns="0" bIns="0" rtlCol="0" anchor="ctr"/>
          <a:lstStyle/>
          <a:p>
            <a:pPr marL="0" indent="0">
              <a:buNone/>
            </a:pPr>
            <a:r>
              <a:rPr lang="en-US" sz="1000" b="1" dirty="0">
                <a:solidFill>
                  <a:srgbClr val="C0392B"/>
                </a:solidFill>
              </a:rPr>
              <a:t>Key takeaway</a:t>
            </a:r>
            <a:endParaRPr lang="en-US" sz="1000" dirty="0"/>
          </a:p>
        </p:txBody>
      </p:sp>
      <p:sp>
        <p:nvSpPr>
          <p:cNvPr id="16" name="Text 12"/>
          <p:cNvSpPr/>
          <p:nvPr/>
        </p:nvSpPr>
        <p:spPr>
          <a:xfrm>
            <a:off x="768096" y="5724144"/>
            <a:ext cx="3447288" cy="0"/>
          </a:xfrm>
          <a:prstGeom prst="rect">
            <a:avLst/>
          </a:prstGeom>
          <a:noFill/>
          <a:ln/>
        </p:spPr>
        <p:txBody>
          <a:bodyPr wrap="square" lIns="0" tIns="0" rIns="0" bIns="0" rtlCol="0" anchor="t">
            <a:normAutofit/>
          </a:bodyPr>
          <a:lstStyle/>
          <a:p>
            <a:pPr marL="0" indent="0">
              <a:buNone/>
            </a:pPr>
            <a:r>
              <a:rPr lang="en-US" sz="1050" dirty="0">
                <a:solidFill>
                  <a:srgbClr val="F8F0FF"/>
                </a:solidFill>
              </a:rPr>
              <a:t>RAM is a strong pricing anchor, but storage is the single strongest individual predictor. Consumers reward performance-memory bundles with clean step-up pricing.</a:t>
            </a:r>
            <a:endParaRPr lang="en-US" sz="1050" dirty="0"/>
          </a:p>
        </p:txBody>
      </p:sp>
      <p:sp>
        <p:nvSpPr>
          <p:cNvPr id="17" name="Shape 13"/>
          <p:cNvSpPr/>
          <p:nvPr/>
        </p:nvSpPr>
        <p:spPr>
          <a:xfrm>
            <a:off x="4526280" y="5449824"/>
            <a:ext cx="3657600" cy="886968"/>
          </a:xfrm>
          <a:prstGeom prst="roundRect">
            <a:avLst>
              <a:gd name="adj" fmla="val 5155"/>
            </a:avLst>
          </a:prstGeom>
          <a:solidFill>
            <a:srgbClr val="3D1155"/>
          </a:solidFill>
          <a:ln w="12700">
            <a:solidFill>
              <a:srgbClr val="F39C12"/>
            </a:solidFill>
            <a:prstDash val="solid"/>
          </a:ln>
        </p:spPr>
        <p:txBody>
          <a:bodyPr/>
          <a:lstStyle/>
          <a:p>
            <a:endParaRPr lang="en-IN"/>
          </a:p>
        </p:txBody>
      </p:sp>
      <p:sp>
        <p:nvSpPr>
          <p:cNvPr id="18" name="Text 14"/>
          <p:cNvSpPr/>
          <p:nvPr/>
        </p:nvSpPr>
        <p:spPr>
          <a:xfrm>
            <a:off x="4654296" y="5541264"/>
            <a:ext cx="3401568" cy="0"/>
          </a:xfrm>
          <a:prstGeom prst="rect">
            <a:avLst/>
          </a:prstGeom>
          <a:noFill/>
          <a:ln/>
        </p:spPr>
        <p:txBody>
          <a:bodyPr wrap="square" lIns="0" tIns="0" rIns="0" bIns="0" rtlCol="0" anchor="ctr"/>
          <a:lstStyle/>
          <a:p>
            <a:pPr marL="0" indent="0">
              <a:buNone/>
            </a:pPr>
            <a:r>
              <a:rPr lang="en-US" sz="1000" b="1" dirty="0">
                <a:solidFill>
                  <a:srgbClr val="F39C12"/>
                </a:solidFill>
              </a:rPr>
              <a:t>Why it matters</a:t>
            </a:r>
            <a:endParaRPr lang="en-US" sz="1000" dirty="0"/>
          </a:p>
        </p:txBody>
      </p:sp>
      <p:sp>
        <p:nvSpPr>
          <p:cNvPr id="19" name="Text 15"/>
          <p:cNvSpPr/>
          <p:nvPr/>
        </p:nvSpPr>
        <p:spPr>
          <a:xfrm>
            <a:off x="4654296" y="5724144"/>
            <a:ext cx="3401568" cy="0"/>
          </a:xfrm>
          <a:prstGeom prst="rect">
            <a:avLst/>
          </a:prstGeom>
          <a:noFill/>
          <a:ln/>
        </p:spPr>
        <p:txBody>
          <a:bodyPr wrap="square" lIns="0" tIns="0" rIns="0" bIns="0" rtlCol="0" anchor="t">
            <a:normAutofit/>
          </a:bodyPr>
          <a:lstStyle/>
          <a:p>
            <a:pPr marL="0" indent="0">
              <a:buNone/>
            </a:pPr>
            <a:r>
              <a:rPr lang="en-US" sz="1050" dirty="0">
                <a:solidFill>
                  <a:srgbClr val="F8F0FF"/>
                </a:solidFill>
              </a:rPr>
              <a:t>4GB and 6GB sit in the volume bands, while 128GB acts like the market sweet spot and 256GB strongly signals premium positioning.</a:t>
            </a:r>
            <a:endParaRPr lang="en-US" sz="1050" dirty="0"/>
          </a:p>
        </p:txBody>
      </p:sp>
      <p:sp>
        <p:nvSpPr>
          <p:cNvPr id="20" name="Shape 16"/>
          <p:cNvSpPr/>
          <p:nvPr/>
        </p:nvSpPr>
        <p:spPr>
          <a:xfrm>
            <a:off x="8366760" y="5449824"/>
            <a:ext cx="2743200" cy="886968"/>
          </a:xfrm>
          <a:prstGeom prst="roundRect">
            <a:avLst>
              <a:gd name="adj" fmla="val 5155"/>
            </a:avLst>
          </a:prstGeom>
          <a:solidFill>
            <a:srgbClr val="3D1155"/>
          </a:solidFill>
          <a:ln w="12700">
            <a:solidFill>
              <a:srgbClr val="EF476F"/>
            </a:solidFill>
            <a:prstDash val="solid"/>
          </a:ln>
        </p:spPr>
        <p:txBody>
          <a:bodyPr/>
          <a:lstStyle/>
          <a:p>
            <a:endParaRPr lang="en-IN"/>
          </a:p>
        </p:txBody>
      </p:sp>
      <p:sp>
        <p:nvSpPr>
          <p:cNvPr id="21" name="Text 17"/>
          <p:cNvSpPr/>
          <p:nvPr/>
        </p:nvSpPr>
        <p:spPr>
          <a:xfrm>
            <a:off x="8494776" y="5541264"/>
            <a:ext cx="2487168" cy="0"/>
          </a:xfrm>
          <a:prstGeom prst="rect">
            <a:avLst/>
          </a:prstGeom>
          <a:noFill/>
          <a:ln/>
        </p:spPr>
        <p:txBody>
          <a:bodyPr wrap="square" lIns="0" tIns="0" rIns="0" bIns="0" rtlCol="0" anchor="ctr"/>
          <a:lstStyle/>
          <a:p>
            <a:pPr marL="0" indent="0">
              <a:buNone/>
            </a:pPr>
            <a:r>
              <a:rPr lang="en-US" sz="1000" b="1" dirty="0">
                <a:solidFill>
                  <a:srgbClr val="EF476F"/>
                </a:solidFill>
              </a:rPr>
              <a:t>Practical action</a:t>
            </a:r>
            <a:endParaRPr lang="en-US" sz="1000" dirty="0"/>
          </a:p>
        </p:txBody>
      </p:sp>
      <p:sp>
        <p:nvSpPr>
          <p:cNvPr id="22" name="Text 18"/>
          <p:cNvSpPr/>
          <p:nvPr/>
        </p:nvSpPr>
        <p:spPr>
          <a:xfrm>
            <a:off x="8494776" y="5724144"/>
            <a:ext cx="2487168" cy="0"/>
          </a:xfrm>
          <a:prstGeom prst="rect">
            <a:avLst/>
          </a:prstGeom>
          <a:noFill/>
          <a:ln/>
        </p:spPr>
        <p:txBody>
          <a:bodyPr wrap="square" lIns="0" tIns="0" rIns="0" bIns="0" rtlCol="0" anchor="t">
            <a:normAutofit/>
          </a:bodyPr>
          <a:lstStyle/>
          <a:p>
            <a:pPr marL="0" indent="0">
              <a:buNone/>
            </a:pPr>
            <a:r>
              <a:rPr lang="en-US" sz="1050" dirty="0">
                <a:solidFill>
                  <a:srgbClr val="F8F0FF"/>
                </a:solidFill>
              </a:rPr>
              <a:t>Use RAM + Memory as the main commercial ladder for variant strategy, pricing design, and the first-pass ML feature set.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0A1E"/>
        </a:solidFill>
        <a:effectLst/>
      </p:bgPr>
    </p:bg>
    <p:spTree>
      <p:nvGrpSpPr>
        <p:cNvPr id="1" name=""/>
        <p:cNvGrpSpPr/>
        <p:nvPr/>
      </p:nvGrpSpPr>
      <p:grpSpPr>
        <a:xfrm>
          <a:off x="0" y="0"/>
          <a:ext cx="0" cy="0"/>
          <a:chOff x="0" y="0"/>
          <a:chExt cx="0" cy="0"/>
        </a:xfrm>
      </p:grpSpPr>
      <p:sp>
        <p:nvSpPr>
          <p:cNvPr id="2" name="Shape 0"/>
          <p:cNvSpPr/>
          <p:nvPr/>
        </p:nvSpPr>
        <p:spPr>
          <a:xfrm>
            <a:off x="0" y="0"/>
            <a:ext cx="0" cy="6858000"/>
          </a:xfrm>
          <a:prstGeom prst="rect">
            <a:avLst/>
          </a:prstGeom>
          <a:solidFill>
            <a:srgbClr val="1A0A1E"/>
          </a:solidFill>
          <a:ln w="12700">
            <a:solidFill>
              <a:srgbClr val="1A0A1E"/>
            </a:solidFill>
            <a:prstDash val="solid"/>
          </a:ln>
        </p:spPr>
        <p:txBody>
          <a:bodyPr/>
          <a:lstStyle/>
          <a:p>
            <a:endParaRPr lang="en-IN"/>
          </a:p>
        </p:txBody>
      </p:sp>
      <p:sp>
        <p:nvSpPr>
          <p:cNvPr id="3" name="Shape 1"/>
          <p:cNvSpPr/>
          <p:nvPr/>
        </p:nvSpPr>
        <p:spPr>
          <a:xfrm>
            <a:off x="0" y="0"/>
            <a:ext cx="0" cy="0"/>
          </a:xfrm>
          <a:prstGeom prst="rect">
            <a:avLst/>
          </a:prstGeom>
          <a:solidFill>
            <a:srgbClr val="C0392B"/>
          </a:solidFill>
          <a:ln w="12700">
            <a:solidFill>
              <a:srgbClr val="C0392B"/>
            </a:solidFill>
            <a:prstDash val="solid"/>
          </a:ln>
        </p:spPr>
        <p:txBody>
          <a:bodyPr/>
          <a:lstStyle/>
          <a:p>
            <a:endParaRPr lang="en-IN"/>
          </a:p>
        </p:txBody>
      </p:sp>
      <p:sp>
        <p:nvSpPr>
          <p:cNvPr id="4" name="Shape 2"/>
          <p:cNvSpPr/>
          <p:nvPr/>
        </p:nvSpPr>
        <p:spPr>
          <a:xfrm>
            <a:off x="0" y="6601968"/>
            <a:ext cx="0" cy="256032"/>
          </a:xfrm>
          <a:prstGeom prst="rect">
            <a:avLst/>
          </a:prstGeom>
          <a:solidFill>
            <a:srgbClr val="1F0D25"/>
          </a:solidFill>
          <a:ln w="12700">
            <a:solidFill>
              <a:srgbClr val="1F0D25"/>
            </a:solidFill>
            <a:prstDash val="solid"/>
          </a:ln>
        </p:spPr>
        <p:txBody>
          <a:bodyPr/>
          <a:lstStyle/>
          <a:p>
            <a:endParaRPr lang="en-IN"/>
          </a:p>
        </p:txBody>
      </p:sp>
      <p:sp>
        <p:nvSpPr>
          <p:cNvPr id="5" name="Text 3"/>
          <p:cNvSpPr/>
          <p:nvPr/>
        </p:nvSpPr>
        <p:spPr>
          <a:xfrm>
            <a:off x="457200" y="320040"/>
            <a:ext cx="7132320" cy="411480"/>
          </a:xfrm>
          <a:prstGeom prst="rect">
            <a:avLst/>
          </a:prstGeom>
          <a:noFill/>
          <a:ln/>
        </p:spPr>
        <p:txBody>
          <a:bodyPr wrap="square" lIns="0" tIns="0" rIns="0" bIns="0" rtlCol="0" anchor="ctr"/>
          <a:lstStyle/>
          <a:p>
            <a:pPr marL="0" indent="0">
              <a:buNone/>
            </a:pPr>
            <a:r>
              <a:rPr lang="en-US" sz="2400" b="1" dirty="0">
                <a:solidFill>
                  <a:srgbClr val="F8F0FF"/>
                </a:solidFill>
                <a:latin typeface="Aptos Display" pitchFamily="34" charset="0"/>
                <a:ea typeface="Aptos Display" pitchFamily="34" charset="-122"/>
                <a:cs typeface="Aptos Display" pitchFamily="34" charset="-120"/>
              </a:rPr>
              <a:t>Signal versus noise: battery does not price the market, camera does</a:t>
            </a:r>
            <a:endParaRPr lang="en-US" sz="2400" dirty="0"/>
          </a:p>
        </p:txBody>
      </p:sp>
      <p:sp>
        <p:nvSpPr>
          <p:cNvPr id="6" name="Text 4"/>
          <p:cNvSpPr/>
          <p:nvPr/>
        </p:nvSpPr>
        <p:spPr>
          <a:xfrm>
            <a:off x="457200" y="731520"/>
            <a:ext cx="7863840" cy="219456"/>
          </a:xfrm>
          <a:prstGeom prst="rect">
            <a:avLst/>
          </a:prstGeom>
          <a:noFill/>
          <a:ln/>
        </p:spPr>
        <p:txBody>
          <a:bodyPr wrap="square" lIns="0" tIns="0" rIns="0" bIns="0" rtlCol="0" anchor="ctr"/>
          <a:lstStyle/>
          <a:p>
            <a:pPr marL="0" indent="0">
              <a:buNone/>
            </a:pPr>
            <a:r>
              <a:rPr lang="en-US" sz="950" dirty="0">
                <a:solidFill>
                  <a:srgbClr val="D7B8E8"/>
                </a:solidFill>
              </a:rPr>
              <a:t>This slide separates baseline expectations from true premium signals.</a:t>
            </a:r>
            <a:endParaRPr lang="en-US" sz="950" dirty="0"/>
          </a:p>
        </p:txBody>
      </p:sp>
      <p:sp>
        <p:nvSpPr>
          <p:cNvPr id="7" name="Text 5"/>
          <p:cNvSpPr/>
          <p:nvPr/>
        </p:nvSpPr>
        <p:spPr>
          <a:xfrm>
            <a:off x="9235440" y="6656832"/>
            <a:ext cx="2468880" cy="137160"/>
          </a:xfrm>
          <a:prstGeom prst="rect">
            <a:avLst/>
          </a:prstGeom>
          <a:noFill/>
          <a:ln/>
        </p:spPr>
        <p:txBody>
          <a:bodyPr wrap="square" lIns="0" tIns="0" rIns="0" bIns="0" rtlCol="0" anchor="ctr"/>
          <a:lstStyle/>
          <a:p>
            <a:pPr marL="0" indent="0" algn="r">
              <a:buNone/>
            </a:pPr>
            <a:r>
              <a:rPr lang="en-US" sz="800" dirty="0">
                <a:solidFill>
                  <a:srgbClr val="BA8FD4"/>
                </a:solidFill>
              </a:rPr>
              <a:t>NHIS Project 4  •  Neha Chhapariya  •  5</a:t>
            </a:r>
            <a:endParaRPr lang="en-US" sz="800" dirty="0"/>
          </a:p>
        </p:txBody>
      </p:sp>
      <p:sp>
        <p:nvSpPr>
          <p:cNvPr id="8" name="Shape 6"/>
          <p:cNvSpPr/>
          <p:nvPr/>
        </p:nvSpPr>
        <p:spPr>
          <a:xfrm>
            <a:off x="457200" y="0"/>
            <a:ext cx="5440680" cy="4160520"/>
          </a:xfrm>
          <a:prstGeom prst="roundRect">
            <a:avLst>
              <a:gd name="adj" fmla="val 1758"/>
            </a:avLst>
          </a:prstGeom>
          <a:solidFill>
            <a:srgbClr val="1E0E2E"/>
          </a:solidFill>
          <a:ln w="12700">
            <a:solidFill>
              <a:srgbClr val="5E2680"/>
            </a:solidFill>
            <a:prstDash val="solid"/>
          </a:ln>
        </p:spPr>
        <p:txBody>
          <a:bodyPr/>
          <a:lstStyle/>
          <a:p>
            <a:endParaRPr lang="en-IN"/>
          </a:p>
        </p:txBody>
      </p:sp>
      <p:sp>
        <p:nvSpPr>
          <p:cNvPr id="9" name="Text 7"/>
          <p:cNvSpPr/>
          <p:nvPr/>
        </p:nvSpPr>
        <p:spPr>
          <a:xfrm>
            <a:off x="621792" y="1225296"/>
            <a:ext cx="5111496" cy="201168"/>
          </a:xfrm>
          <a:prstGeom prst="rect">
            <a:avLst/>
          </a:prstGeom>
          <a:noFill/>
          <a:ln/>
        </p:spPr>
        <p:txBody>
          <a:bodyPr wrap="square" lIns="0" tIns="0" rIns="0" bIns="0" rtlCol="0" anchor="ctr"/>
          <a:lstStyle/>
          <a:p>
            <a:pPr marL="0" indent="0">
              <a:buNone/>
            </a:pPr>
            <a:r>
              <a:rPr lang="en-US" sz="1050" b="1" dirty="0">
                <a:solidFill>
                  <a:srgbClr val="F39C12"/>
                </a:solidFill>
              </a:rPr>
              <a:t>Battery vs price</a:t>
            </a:r>
            <a:endParaRPr lang="en-US" sz="1050" dirty="0"/>
          </a:p>
        </p:txBody>
      </p:sp>
      <p:pic>
        <p:nvPicPr>
          <p:cNvPr id="10" name="Image 0" descr="/mnt/data/reena_assets/plot_34.png"/>
          <p:cNvPicPr>
            <a:picLocks noChangeAspect="1"/>
          </p:cNvPicPr>
          <p:nvPr/>
        </p:nvPicPr>
        <p:blipFill>
          <a:blip r:embed="rId3"/>
          <a:stretch>
            <a:fillRect/>
          </a:stretch>
        </p:blipFill>
        <p:spPr>
          <a:xfrm>
            <a:off x="566928" y="2006986"/>
            <a:ext cx="5221224" cy="2615429"/>
          </a:xfrm>
          <a:prstGeom prst="rect">
            <a:avLst/>
          </a:prstGeom>
        </p:spPr>
      </p:pic>
      <p:sp>
        <p:nvSpPr>
          <p:cNvPr id="11" name="Shape 8"/>
          <p:cNvSpPr/>
          <p:nvPr/>
        </p:nvSpPr>
        <p:spPr>
          <a:xfrm>
            <a:off x="6062472" y="0"/>
            <a:ext cx="5669280" cy="4160520"/>
          </a:xfrm>
          <a:prstGeom prst="roundRect">
            <a:avLst>
              <a:gd name="adj" fmla="val 1758"/>
            </a:avLst>
          </a:prstGeom>
          <a:solidFill>
            <a:srgbClr val="1E0E2E"/>
          </a:solidFill>
          <a:ln w="12700">
            <a:solidFill>
              <a:srgbClr val="5E2680"/>
            </a:solidFill>
            <a:prstDash val="solid"/>
          </a:ln>
        </p:spPr>
        <p:txBody>
          <a:bodyPr/>
          <a:lstStyle/>
          <a:p>
            <a:endParaRPr lang="en-IN"/>
          </a:p>
        </p:txBody>
      </p:sp>
      <p:sp>
        <p:nvSpPr>
          <p:cNvPr id="12" name="Text 9"/>
          <p:cNvSpPr/>
          <p:nvPr/>
        </p:nvSpPr>
        <p:spPr>
          <a:xfrm>
            <a:off x="6227064" y="1225296"/>
            <a:ext cx="5340096" cy="201168"/>
          </a:xfrm>
          <a:prstGeom prst="rect">
            <a:avLst/>
          </a:prstGeom>
          <a:noFill/>
          <a:ln/>
        </p:spPr>
        <p:txBody>
          <a:bodyPr wrap="square" lIns="0" tIns="0" rIns="0" bIns="0" rtlCol="0" anchor="ctr"/>
          <a:lstStyle/>
          <a:p>
            <a:pPr marL="0" indent="0">
              <a:buNone/>
            </a:pPr>
            <a:r>
              <a:rPr lang="en-US" sz="1050" b="1" dirty="0">
                <a:solidFill>
                  <a:srgbClr val="F39C12"/>
                </a:solidFill>
              </a:rPr>
              <a:t>Camera specifications vs price</a:t>
            </a:r>
            <a:endParaRPr lang="en-US" sz="1050" dirty="0"/>
          </a:p>
        </p:txBody>
      </p:sp>
      <p:pic>
        <p:nvPicPr>
          <p:cNvPr id="13" name="Image 1" descr="/mnt/data/reena_assets/plot_40.png"/>
          <p:cNvPicPr>
            <a:picLocks noChangeAspect="1"/>
          </p:cNvPicPr>
          <p:nvPr/>
        </p:nvPicPr>
        <p:blipFill>
          <a:blip r:embed="rId4"/>
          <a:stretch>
            <a:fillRect/>
          </a:stretch>
        </p:blipFill>
        <p:spPr>
          <a:xfrm>
            <a:off x="6172200" y="2374121"/>
            <a:ext cx="5449824" cy="1881158"/>
          </a:xfrm>
          <a:prstGeom prst="rect">
            <a:avLst/>
          </a:prstGeom>
        </p:spPr>
      </p:pic>
      <p:sp>
        <p:nvSpPr>
          <p:cNvPr id="14" name="Shape 10"/>
          <p:cNvSpPr/>
          <p:nvPr/>
        </p:nvSpPr>
        <p:spPr>
          <a:xfrm>
            <a:off x="640080" y="5449824"/>
            <a:ext cx="3657600" cy="886968"/>
          </a:xfrm>
          <a:prstGeom prst="roundRect">
            <a:avLst>
              <a:gd name="adj" fmla="val 5155"/>
            </a:avLst>
          </a:prstGeom>
          <a:solidFill>
            <a:srgbClr val="3D1155"/>
          </a:solidFill>
          <a:ln w="12700">
            <a:solidFill>
              <a:srgbClr val="F4A261"/>
            </a:solidFill>
            <a:prstDash val="solid"/>
          </a:ln>
        </p:spPr>
        <p:txBody>
          <a:bodyPr/>
          <a:lstStyle/>
          <a:p>
            <a:endParaRPr lang="en-IN"/>
          </a:p>
        </p:txBody>
      </p:sp>
      <p:sp>
        <p:nvSpPr>
          <p:cNvPr id="15" name="Text 11"/>
          <p:cNvSpPr/>
          <p:nvPr/>
        </p:nvSpPr>
        <p:spPr>
          <a:xfrm>
            <a:off x="768096" y="5541264"/>
            <a:ext cx="3401568" cy="0"/>
          </a:xfrm>
          <a:prstGeom prst="rect">
            <a:avLst/>
          </a:prstGeom>
          <a:noFill/>
          <a:ln/>
        </p:spPr>
        <p:txBody>
          <a:bodyPr wrap="square" lIns="0" tIns="0" rIns="0" bIns="0" rtlCol="0" anchor="ctr"/>
          <a:lstStyle/>
          <a:p>
            <a:pPr marL="0" indent="0">
              <a:buNone/>
            </a:pPr>
            <a:r>
              <a:rPr lang="en-US" sz="1000" b="1" dirty="0">
                <a:solidFill>
                  <a:srgbClr val="F4A261"/>
                </a:solidFill>
              </a:rPr>
              <a:t>Battery finding</a:t>
            </a:r>
            <a:endParaRPr lang="en-US" sz="1000" dirty="0"/>
          </a:p>
        </p:txBody>
      </p:sp>
      <p:sp>
        <p:nvSpPr>
          <p:cNvPr id="16" name="Text 12"/>
          <p:cNvSpPr/>
          <p:nvPr/>
        </p:nvSpPr>
        <p:spPr>
          <a:xfrm>
            <a:off x="768096" y="5724144"/>
            <a:ext cx="3401568" cy="0"/>
          </a:xfrm>
          <a:prstGeom prst="rect">
            <a:avLst/>
          </a:prstGeom>
          <a:noFill/>
          <a:ln/>
        </p:spPr>
        <p:txBody>
          <a:bodyPr wrap="square" lIns="0" tIns="0" rIns="0" bIns="0" rtlCol="0" anchor="t">
            <a:normAutofit/>
          </a:bodyPr>
          <a:lstStyle/>
          <a:p>
            <a:pPr marL="0" indent="0">
              <a:buNone/>
            </a:pPr>
            <a:r>
              <a:rPr lang="en-US" sz="1050" dirty="0">
                <a:solidFill>
                  <a:srgbClr val="F8F0FF"/>
                </a:solidFill>
              </a:rPr>
              <a:t>Battery capacity is practically neutral in pricing terms. Large batteries now exist everywhere, so they behave like a category-standard feature rather than a price lever.</a:t>
            </a:r>
            <a:endParaRPr lang="en-US" sz="1050" dirty="0"/>
          </a:p>
        </p:txBody>
      </p:sp>
      <p:sp>
        <p:nvSpPr>
          <p:cNvPr id="17" name="Shape 13"/>
          <p:cNvSpPr/>
          <p:nvPr/>
        </p:nvSpPr>
        <p:spPr>
          <a:xfrm>
            <a:off x="4526280" y="5449824"/>
            <a:ext cx="3749040" cy="886968"/>
          </a:xfrm>
          <a:prstGeom prst="roundRect">
            <a:avLst>
              <a:gd name="adj" fmla="val 5155"/>
            </a:avLst>
          </a:prstGeom>
          <a:solidFill>
            <a:srgbClr val="3D1155"/>
          </a:solidFill>
          <a:ln w="12700">
            <a:solidFill>
              <a:srgbClr val="C0392B"/>
            </a:solidFill>
            <a:prstDash val="solid"/>
          </a:ln>
        </p:spPr>
        <p:txBody>
          <a:bodyPr/>
          <a:lstStyle/>
          <a:p>
            <a:endParaRPr lang="en-IN"/>
          </a:p>
        </p:txBody>
      </p:sp>
      <p:sp>
        <p:nvSpPr>
          <p:cNvPr id="18" name="Text 14"/>
          <p:cNvSpPr/>
          <p:nvPr/>
        </p:nvSpPr>
        <p:spPr>
          <a:xfrm>
            <a:off x="4654296" y="5541264"/>
            <a:ext cx="3493008" cy="0"/>
          </a:xfrm>
          <a:prstGeom prst="rect">
            <a:avLst/>
          </a:prstGeom>
          <a:noFill/>
          <a:ln/>
        </p:spPr>
        <p:txBody>
          <a:bodyPr wrap="square" lIns="0" tIns="0" rIns="0" bIns="0" rtlCol="0" anchor="ctr"/>
          <a:lstStyle/>
          <a:p>
            <a:pPr marL="0" indent="0">
              <a:buNone/>
            </a:pPr>
            <a:r>
              <a:rPr lang="en-US" sz="1000" b="1" dirty="0">
                <a:solidFill>
                  <a:srgbClr val="C0392B"/>
                </a:solidFill>
              </a:rPr>
              <a:t>Camera finding</a:t>
            </a:r>
            <a:endParaRPr lang="en-US" sz="1000" dirty="0"/>
          </a:p>
        </p:txBody>
      </p:sp>
      <p:sp>
        <p:nvSpPr>
          <p:cNvPr id="19" name="Text 15"/>
          <p:cNvSpPr/>
          <p:nvPr/>
        </p:nvSpPr>
        <p:spPr>
          <a:xfrm>
            <a:off x="4654296" y="5724144"/>
            <a:ext cx="3493008" cy="0"/>
          </a:xfrm>
          <a:prstGeom prst="rect">
            <a:avLst/>
          </a:prstGeom>
          <a:noFill/>
          <a:ln/>
        </p:spPr>
        <p:txBody>
          <a:bodyPr wrap="square" lIns="0" tIns="0" rIns="0" bIns="0" rtlCol="0" anchor="t">
            <a:normAutofit/>
          </a:bodyPr>
          <a:lstStyle/>
          <a:p>
            <a:pPr marL="0" indent="0">
              <a:buNone/>
            </a:pPr>
            <a:r>
              <a:rPr lang="en-US" sz="1050" dirty="0">
                <a:solidFill>
                  <a:srgbClr val="F8F0FF"/>
                </a:solidFill>
              </a:rPr>
              <a:t>Camera variables matter. Front camera is especially strong in this dataset, and the engineered Camera Score validates the usefulness of feature engineering.</a:t>
            </a:r>
            <a:endParaRPr lang="en-US" sz="1050" dirty="0"/>
          </a:p>
        </p:txBody>
      </p:sp>
      <p:sp>
        <p:nvSpPr>
          <p:cNvPr id="20" name="Shape 16"/>
          <p:cNvSpPr/>
          <p:nvPr/>
        </p:nvSpPr>
        <p:spPr>
          <a:xfrm>
            <a:off x="8458200" y="5449824"/>
            <a:ext cx="2560320" cy="886968"/>
          </a:xfrm>
          <a:prstGeom prst="roundRect">
            <a:avLst>
              <a:gd name="adj" fmla="val 5155"/>
            </a:avLst>
          </a:prstGeom>
          <a:solidFill>
            <a:srgbClr val="3D1155"/>
          </a:solidFill>
          <a:ln w="12700">
            <a:solidFill>
              <a:srgbClr val="4CC9F0"/>
            </a:solidFill>
            <a:prstDash val="solid"/>
          </a:ln>
        </p:spPr>
        <p:txBody>
          <a:bodyPr/>
          <a:lstStyle/>
          <a:p>
            <a:endParaRPr lang="en-IN"/>
          </a:p>
        </p:txBody>
      </p:sp>
      <p:sp>
        <p:nvSpPr>
          <p:cNvPr id="21" name="Text 17"/>
          <p:cNvSpPr/>
          <p:nvPr/>
        </p:nvSpPr>
        <p:spPr>
          <a:xfrm>
            <a:off x="8586216" y="5541264"/>
            <a:ext cx="2304288" cy="0"/>
          </a:xfrm>
          <a:prstGeom prst="rect">
            <a:avLst/>
          </a:prstGeom>
          <a:noFill/>
          <a:ln/>
        </p:spPr>
        <p:txBody>
          <a:bodyPr wrap="square" lIns="0" tIns="0" rIns="0" bIns="0" rtlCol="0" anchor="ctr"/>
          <a:lstStyle/>
          <a:p>
            <a:pPr marL="0" indent="0">
              <a:buNone/>
            </a:pPr>
            <a:r>
              <a:rPr lang="en-US" sz="1000" b="1" dirty="0">
                <a:solidFill>
                  <a:srgbClr val="4CC9F0"/>
                </a:solidFill>
              </a:rPr>
              <a:t>Decision implication</a:t>
            </a:r>
            <a:endParaRPr lang="en-US" sz="1000" dirty="0"/>
          </a:p>
        </p:txBody>
      </p:sp>
      <p:sp>
        <p:nvSpPr>
          <p:cNvPr id="22" name="Text 18"/>
          <p:cNvSpPr/>
          <p:nvPr/>
        </p:nvSpPr>
        <p:spPr>
          <a:xfrm>
            <a:off x="8586216" y="5724144"/>
            <a:ext cx="2304288" cy="0"/>
          </a:xfrm>
          <a:prstGeom prst="rect">
            <a:avLst/>
          </a:prstGeom>
          <a:noFill/>
          <a:ln/>
        </p:spPr>
        <p:txBody>
          <a:bodyPr wrap="square" lIns="0" tIns="0" rIns="0" bIns="0" rtlCol="0" anchor="t">
            <a:normAutofit/>
          </a:bodyPr>
          <a:lstStyle/>
          <a:p>
            <a:pPr marL="0" indent="0">
              <a:buNone/>
            </a:pPr>
            <a:r>
              <a:rPr lang="en-US" sz="1050" dirty="0">
                <a:solidFill>
                  <a:srgbClr val="F8F0FF"/>
                </a:solidFill>
              </a:rPr>
              <a:t>Message battery as reliability, but use camera quality to support premium storytelling and modelling.</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0A1E"/>
        </a:solidFill>
        <a:effectLst/>
      </p:bgPr>
    </p:bg>
    <p:spTree>
      <p:nvGrpSpPr>
        <p:cNvPr id="1" name=""/>
        <p:cNvGrpSpPr/>
        <p:nvPr/>
      </p:nvGrpSpPr>
      <p:grpSpPr>
        <a:xfrm>
          <a:off x="0" y="0"/>
          <a:ext cx="0" cy="0"/>
          <a:chOff x="0" y="0"/>
          <a:chExt cx="0" cy="0"/>
        </a:xfrm>
      </p:grpSpPr>
      <p:sp>
        <p:nvSpPr>
          <p:cNvPr id="2" name="Shape 0"/>
          <p:cNvSpPr/>
          <p:nvPr/>
        </p:nvSpPr>
        <p:spPr>
          <a:xfrm>
            <a:off x="0" y="0"/>
            <a:ext cx="0" cy="6858000"/>
          </a:xfrm>
          <a:prstGeom prst="rect">
            <a:avLst/>
          </a:prstGeom>
          <a:solidFill>
            <a:srgbClr val="1A0A1E"/>
          </a:solidFill>
          <a:ln w="12700">
            <a:solidFill>
              <a:srgbClr val="1A0A1E"/>
            </a:solidFill>
            <a:prstDash val="solid"/>
          </a:ln>
        </p:spPr>
        <p:txBody>
          <a:bodyPr/>
          <a:lstStyle/>
          <a:p>
            <a:endParaRPr lang="en-IN"/>
          </a:p>
        </p:txBody>
      </p:sp>
      <p:sp>
        <p:nvSpPr>
          <p:cNvPr id="3" name="Shape 1"/>
          <p:cNvSpPr/>
          <p:nvPr/>
        </p:nvSpPr>
        <p:spPr>
          <a:xfrm>
            <a:off x="0" y="0"/>
            <a:ext cx="0" cy="0"/>
          </a:xfrm>
          <a:prstGeom prst="rect">
            <a:avLst/>
          </a:prstGeom>
          <a:solidFill>
            <a:srgbClr val="C0392B"/>
          </a:solidFill>
          <a:ln w="12700">
            <a:solidFill>
              <a:srgbClr val="C0392B"/>
            </a:solidFill>
            <a:prstDash val="solid"/>
          </a:ln>
        </p:spPr>
        <p:txBody>
          <a:bodyPr/>
          <a:lstStyle/>
          <a:p>
            <a:endParaRPr lang="en-IN"/>
          </a:p>
        </p:txBody>
      </p:sp>
      <p:sp>
        <p:nvSpPr>
          <p:cNvPr id="4" name="Shape 2"/>
          <p:cNvSpPr/>
          <p:nvPr/>
        </p:nvSpPr>
        <p:spPr>
          <a:xfrm>
            <a:off x="0" y="6601968"/>
            <a:ext cx="0" cy="256032"/>
          </a:xfrm>
          <a:prstGeom prst="rect">
            <a:avLst/>
          </a:prstGeom>
          <a:solidFill>
            <a:srgbClr val="1F0D25"/>
          </a:solidFill>
          <a:ln w="12700">
            <a:solidFill>
              <a:srgbClr val="1F0D25"/>
            </a:solidFill>
            <a:prstDash val="solid"/>
          </a:ln>
        </p:spPr>
        <p:txBody>
          <a:bodyPr/>
          <a:lstStyle/>
          <a:p>
            <a:endParaRPr lang="en-IN"/>
          </a:p>
        </p:txBody>
      </p:sp>
      <p:sp>
        <p:nvSpPr>
          <p:cNvPr id="5" name="Text 3"/>
          <p:cNvSpPr/>
          <p:nvPr/>
        </p:nvSpPr>
        <p:spPr>
          <a:xfrm>
            <a:off x="457200" y="320040"/>
            <a:ext cx="7132320" cy="411480"/>
          </a:xfrm>
          <a:prstGeom prst="rect">
            <a:avLst/>
          </a:prstGeom>
          <a:noFill/>
          <a:ln/>
        </p:spPr>
        <p:txBody>
          <a:bodyPr wrap="square" lIns="0" tIns="0" rIns="0" bIns="0" rtlCol="0" anchor="ctr"/>
          <a:lstStyle/>
          <a:p>
            <a:pPr marL="0" indent="0">
              <a:buNone/>
            </a:pPr>
            <a:r>
              <a:rPr lang="en-US" sz="2400" b="1" dirty="0">
                <a:solidFill>
                  <a:srgbClr val="F8F0FF"/>
                </a:solidFill>
                <a:latin typeface="Aptos Display" pitchFamily="34" charset="0"/>
                <a:ea typeface="Aptos Display" pitchFamily="34" charset="-122"/>
                <a:cs typeface="Aptos Display" pitchFamily="34" charset="-120"/>
              </a:rPr>
              <a:t>Secondary features and variable relationships</a:t>
            </a:r>
            <a:endParaRPr lang="en-US" sz="2400" dirty="0"/>
          </a:p>
        </p:txBody>
      </p:sp>
      <p:sp>
        <p:nvSpPr>
          <p:cNvPr id="6" name="Text 4"/>
          <p:cNvSpPr/>
          <p:nvPr/>
        </p:nvSpPr>
        <p:spPr>
          <a:xfrm>
            <a:off x="457200" y="731520"/>
            <a:ext cx="7863840" cy="219456"/>
          </a:xfrm>
          <a:prstGeom prst="rect">
            <a:avLst/>
          </a:prstGeom>
          <a:noFill/>
          <a:ln/>
        </p:spPr>
        <p:txBody>
          <a:bodyPr wrap="square" lIns="0" tIns="0" rIns="0" bIns="0" rtlCol="0" anchor="ctr"/>
          <a:lstStyle/>
          <a:p>
            <a:pPr marL="0" indent="0">
              <a:buNone/>
            </a:pPr>
            <a:r>
              <a:rPr lang="en-US" sz="950" dirty="0">
                <a:solidFill>
                  <a:srgbClr val="D7B8E8"/>
                </a:solidFill>
              </a:rPr>
              <a:t>Useful for context, but not all features deserve equal weight in the pricing model.</a:t>
            </a:r>
            <a:endParaRPr lang="en-US" sz="950" dirty="0"/>
          </a:p>
        </p:txBody>
      </p:sp>
      <p:sp>
        <p:nvSpPr>
          <p:cNvPr id="7" name="Text 5"/>
          <p:cNvSpPr/>
          <p:nvPr/>
        </p:nvSpPr>
        <p:spPr>
          <a:xfrm>
            <a:off x="9235440" y="6656832"/>
            <a:ext cx="2468880" cy="137160"/>
          </a:xfrm>
          <a:prstGeom prst="rect">
            <a:avLst/>
          </a:prstGeom>
          <a:noFill/>
          <a:ln/>
        </p:spPr>
        <p:txBody>
          <a:bodyPr wrap="square" lIns="0" tIns="0" rIns="0" bIns="0" rtlCol="0" anchor="ctr"/>
          <a:lstStyle/>
          <a:p>
            <a:pPr marL="0" indent="0" algn="r">
              <a:buNone/>
            </a:pPr>
            <a:r>
              <a:rPr lang="en-US" sz="800" dirty="0">
                <a:solidFill>
                  <a:srgbClr val="BA8FD4"/>
                </a:solidFill>
              </a:rPr>
              <a:t>NHIS Project 4  •  Neha Chhapariya  •  6</a:t>
            </a:r>
            <a:endParaRPr lang="en-US" sz="800" dirty="0"/>
          </a:p>
        </p:txBody>
      </p:sp>
      <p:sp>
        <p:nvSpPr>
          <p:cNvPr id="8" name="Shape 6"/>
          <p:cNvSpPr/>
          <p:nvPr/>
        </p:nvSpPr>
        <p:spPr>
          <a:xfrm>
            <a:off x="457200" y="0"/>
            <a:ext cx="5257800" cy="4160520"/>
          </a:xfrm>
          <a:prstGeom prst="roundRect">
            <a:avLst>
              <a:gd name="adj" fmla="val 1758"/>
            </a:avLst>
          </a:prstGeom>
          <a:solidFill>
            <a:srgbClr val="1E0E2E"/>
          </a:solidFill>
          <a:ln w="12700">
            <a:solidFill>
              <a:srgbClr val="5E2680"/>
            </a:solidFill>
            <a:prstDash val="solid"/>
          </a:ln>
        </p:spPr>
        <p:txBody>
          <a:bodyPr/>
          <a:lstStyle/>
          <a:p>
            <a:endParaRPr lang="en-IN"/>
          </a:p>
        </p:txBody>
      </p:sp>
      <p:sp>
        <p:nvSpPr>
          <p:cNvPr id="9" name="Text 7"/>
          <p:cNvSpPr/>
          <p:nvPr/>
        </p:nvSpPr>
        <p:spPr>
          <a:xfrm>
            <a:off x="621792" y="1225296"/>
            <a:ext cx="4928616" cy="201168"/>
          </a:xfrm>
          <a:prstGeom prst="rect">
            <a:avLst/>
          </a:prstGeom>
          <a:noFill/>
          <a:ln/>
        </p:spPr>
        <p:txBody>
          <a:bodyPr wrap="square" lIns="0" tIns="0" rIns="0" bIns="0" rtlCol="0" anchor="ctr"/>
          <a:lstStyle/>
          <a:p>
            <a:pPr marL="0" indent="0">
              <a:buNone/>
            </a:pPr>
            <a:r>
              <a:rPr lang="en-US" sz="1050" b="1" dirty="0">
                <a:solidFill>
                  <a:srgbClr val="F39C12"/>
                </a:solidFill>
              </a:rPr>
              <a:t>AI Lens &amp; mobile height</a:t>
            </a:r>
            <a:endParaRPr lang="en-US" sz="1050" dirty="0"/>
          </a:p>
        </p:txBody>
      </p:sp>
      <p:pic>
        <p:nvPicPr>
          <p:cNvPr id="10" name="Image 0" descr="/mnt/data/reena_assets/plot_43.png"/>
          <p:cNvPicPr>
            <a:picLocks noChangeAspect="1"/>
          </p:cNvPicPr>
          <p:nvPr/>
        </p:nvPicPr>
        <p:blipFill>
          <a:blip r:embed="rId3"/>
          <a:stretch>
            <a:fillRect/>
          </a:stretch>
        </p:blipFill>
        <p:spPr>
          <a:xfrm>
            <a:off x="566928" y="2305917"/>
            <a:ext cx="5038344" cy="2017567"/>
          </a:xfrm>
          <a:prstGeom prst="rect">
            <a:avLst/>
          </a:prstGeom>
        </p:spPr>
      </p:pic>
      <p:sp>
        <p:nvSpPr>
          <p:cNvPr id="11" name="Shape 8"/>
          <p:cNvSpPr/>
          <p:nvPr/>
        </p:nvSpPr>
        <p:spPr>
          <a:xfrm>
            <a:off x="5897880" y="0"/>
            <a:ext cx="5833872" cy="4160520"/>
          </a:xfrm>
          <a:prstGeom prst="roundRect">
            <a:avLst>
              <a:gd name="adj" fmla="val 1758"/>
            </a:avLst>
          </a:prstGeom>
          <a:solidFill>
            <a:srgbClr val="1E0E2E"/>
          </a:solidFill>
          <a:ln w="12700">
            <a:solidFill>
              <a:srgbClr val="5E2680"/>
            </a:solidFill>
            <a:prstDash val="solid"/>
          </a:ln>
        </p:spPr>
        <p:txBody>
          <a:bodyPr/>
          <a:lstStyle/>
          <a:p>
            <a:endParaRPr lang="en-IN"/>
          </a:p>
        </p:txBody>
      </p:sp>
      <p:sp>
        <p:nvSpPr>
          <p:cNvPr id="12" name="Text 9"/>
          <p:cNvSpPr/>
          <p:nvPr/>
        </p:nvSpPr>
        <p:spPr>
          <a:xfrm>
            <a:off x="6062472" y="1225296"/>
            <a:ext cx="5504688" cy="201168"/>
          </a:xfrm>
          <a:prstGeom prst="rect">
            <a:avLst/>
          </a:prstGeom>
          <a:noFill/>
          <a:ln/>
        </p:spPr>
        <p:txBody>
          <a:bodyPr wrap="square" lIns="0" tIns="0" rIns="0" bIns="0" rtlCol="0" anchor="ctr"/>
          <a:lstStyle/>
          <a:p>
            <a:pPr marL="0" indent="0">
              <a:buNone/>
            </a:pPr>
            <a:r>
              <a:rPr lang="en-US" sz="1050" b="1" dirty="0">
                <a:solidFill>
                  <a:srgbClr val="F39C12"/>
                </a:solidFill>
              </a:rPr>
              <a:t>Full correlation heatmap</a:t>
            </a:r>
            <a:endParaRPr lang="en-US" sz="1050" dirty="0"/>
          </a:p>
        </p:txBody>
      </p:sp>
      <p:pic>
        <p:nvPicPr>
          <p:cNvPr id="13" name="Image 1" descr="/mnt/data/reena_assets/plot_46.png"/>
          <p:cNvPicPr>
            <a:picLocks noChangeAspect="1"/>
          </p:cNvPicPr>
          <p:nvPr/>
        </p:nvPicPr>
        <p:blipFill>
          <a:blip r:embed="rId4"/>
          <a:stretch>
            <a:fillRect/>
          </a:stretch>
        </p:blipFill>
        <p:spPr>
          <a:xfrm>
            <a:off x="6376445" y="1463040"/>
            <a:ext cx="4876742" cy="3703320"/>
          </a:xfrm>
          <a:prstGeom prst="rect">
            <a:avLst/>
          </a:prstGeom>
        </p:spPr>
      </p:pic>
      <p:sp>
        <p:nvSpPr>
          <p:cNvPr id="14" name="Shape 10"/>
          <p:cNvSpPr/>
          <p:nvPr/>
        </p:nvSpPr>
        <p:spPr>
          <a:xfrm>
            <a:off x="640080" y="5449824"/>
            <a:ext cx="3611880" cy="886968"/>
          </a:xfrm>
          <a:prstGeom prst="roundRect">
            <a:avLst>
              <a:gd name="adj" fmla="val 5155"/>
            </a:avLst>
          </a:prstGeom>
          <a:solidFill>
            <a:srgbClr val="3D1155"/>
          </a:solidFill>
          <a:ln w="12700">
            <a:solidFill>
              <a:srgbClr val="EF476F"/>
            </a:solidFill>
            <a:prstDash val="solid"/>
          </a:ln>
        </p:spPr>
        <p:txBody>
          <a:bodyPr/>
          <a:lstStyle/>
          <a:p>
            <a:endParaRPr lang="en-IN"/>
          </a:p>
        </p:txBody>
      </p:sp>
      <p:sp>
        <p:nvSpPr>
          <p:cNvPr id="15" name="Text 11"/>
          <p:cNvSpPr/>
          <p:nvPr/>
        </p:nvSpPr>
        <p:spPr>
          <a:xfrm>
            <a:off x="768096" y="5541264"/>
            <a:ext cx="3355848" cy="0"/>
          </a:xfrm>
          <a:prstGeom prst="rect">
            <a:avLst/>
          </a:prstGeom>
          <a:noFill/>
          <a:ln/>
        </p:spPr>
        <p:txBody>
          <a:bodyPr wrap="square" lIns="0" tIns="0" rIns="0" bIns="0" rtlCol="0" anchor="ctr"/>
          <a:lstStyle/>
          <a:p>
            <a:pPr marL="0" indent="0">
              <a:buNone/>
            </a:pPr>
            <a:r>
              <a:rPr lang="en-US" sz="1000" b="1" dirty="0">
                <a:solidFill>
                  <a:srgbClr val="EF476F"/>
                </a:solidFill>
              </a:rPr>
              <a:t>Secondary-signal lesson</a:t>
            </a:r>
            <a:endParaRPr lang="en-US" sz="1000" dirty="0"/>
          </a:p>
        </p:txBody>
      </p:sp>
      <p:sp>
        <p:nvSpPr>
          <p:cNvPr id="16" name="Text 12"/>
          <p:cNvSpPr/>
          <p:nvPr/>
        </p:nvSpPr>
        <p:spPr>
          <a:xfrm>
            <a:off x="768096" y="5724144"/>
            <a:ext cx="3355848" cy="0"/>
          </a:xfrm>
          <a:prstGeom prst="rect">
            <a:avLst/>
          </a:prstGeom>
          <a:noFill/>
          <a:ln/>
        </p:spPr>
        <p:txBody>
          <a:bodyPr wrap="square" lIns="0" tIns="0" rIns="0" bIns="0" rtlCol="0" anchor="t">
            <a:normAutofit/>
          </a:bodyPr>
          <a:lstStyle/>
          <a:p>
            <a:pPr marL="0" indent="0">
              <a:buNone/>
            </a:pPr>
            <a:r>
              <a:rPr lang="en-US" sz="1050" dirty="0">
                <a:solidFill>
                  <a:srgbClr val="F8F0FF"/>
                </a:solidFill>
              </a:rPr>
              <a:t>AI Lens behaves like a budget-marketing label rather than a premium feature. Mobile Height adds only weak signal and should remain secondary.</a:t>
            </a:r>
            <a:endParaRPr lang="en-US" sz="1050" dirty="0"/>
          </a:p>
        </p:txBody>
      </p:sp>
      <p:sp>
        <p:nvSpPr>
          <p:cNvPr id="17" name="Shape 13"/>
          <p:cNvSpPr/>
          <p:nvPr/>
        </p:nvSpPr>
        <p:spPr>
          <a:xfrm>
            <a:off x="4443984" y="5449824"/>
            <a:ext cx="3840480" cy="886968"/>
          </a:xfrm>
          <a:prstGeom prst="roundRect">
            <a:avLst>
              <a:gd name="adj" fmla="val 5155"/>
            </a:avLst>
          </a:prstGeom>
          <a:solidFill>
            <a:srgbClr val="3D1155"/>
          </a:solidFill>
          <a:ln w="12700">
            <a:solidFill>
              <a:srgbClr val="C0392B"/>
            </a:solidFill>
            <a:prstDash val="solid"/>
          </a:ln>
        </p:spPr>
        <p:txBody>
          <a:bodyPr/>
          <a:lstStyle/>
          <a:p>
            <a:endParaRPr lang="en-IN"/>
          </a:p>
        </p:txBody>
      </p:sp>
      <p:sp>
        <p:nvSpPr>
          <p:cNvPr id="18" name="Text 14"/>
          <p:cNvSpPr/>
          <p:nvPr/>
        </p:nvSpPr>
        <p:spPr>
          <a:xfrm>
            <a:off x="4572000" y="5541264"/>
            <a:ext cx="3584448" cy="0"/>
          </a:xfrm>
          <a:prstGeom prst="rect">
            <a:avLst/>
          </a:prstGeom>
          <a:noFill/>
          <a:ln/>
        </p:spPr>
        <p:txBody>
          <a:bodyPr wrap="square" lIns="0" tIns="0" rIns="0" bIns="0" rtlCol="0" anchor="ctr"/>
          <a:lstStyle/>
          <a:p>
            <a:pPr marL="0" indent="0">
              <a:buNone/>
            </a:pPr>
            <a:r>
              <a:rPr lang="en-US" sz="1000" b="1" dirty="0">
                <a:solidFill>
                  <a:srgbClr val="C0392B"/>
                </a:solidFill>
              </a:rPr>
              <a:t>Model design lesson</a:t>
            </a:r>
            <a:endParaRPr lang="en-US" sz="1000" dirty="0"/>
          </a:p>
        </p:txBody>
      </p:sp>
      <p:sp>
        <p:nvSpPr>
          <p:cNvPr id="19" name="Text 15"/>
          <p:cNvSpPr/>
          <p:nvPr/>
        </p:nvSpPr>
        <p:spPr>
          <a:xfrm>
            <a:off x="4572000" y="5724144"/>
            <a:ext cx="3584448" cy="0"/>
          </a:xfrm>
          <a:prstGeom prst="rect">
            <a:avLst/>
          </a:prstGeom>
          <a:noFill/>
          <a:ln/>
        </p:spPr>
        <p:txBody>
          <a:bodyPr wrap="square" lIns="0" tIns="0" rIns="0" bIns="0" rtlCol="0" anchor="t">
            <a:normAutofit/>
          </a:bodyPr>
          <a:lstStyle/>
          <a:p>
            <a:pPr marL="0" indent="0">
              <a:buNone/>
            </a:pPr>
            <a:r>
              <a:rPr lang="en-US" sz="1050" dirty="0">
                <a:solidFill>
                  <a:srgbClr val="F8F0FF"/>
                </a:solidFill>
              </a:rPr>
              <a:t>Memory, RAM, and camera variables form the real premium cluster. Because some of them move together, multicollinearity must be watched in linear models.</a:t>
            </a:r>
            <a:endParaRPr lang="en-US" sz="1050" dirty="0"/>
          </a:p>
        </p:txBody>
      </p:sp>
      <p:sp>
        <p:nvSpPr>
          <p:cNvPr id="20" name="Shape 16"/>
          <p:cNvSpPr/>
          <p:nvPr/>
        </p:nvSpPr>
        <p:spPr>
          <a:xfrm>
            <a:off x="8503920" y="5449824"/>
            <a:ext cx="2560320" cy="886968"/>
          </a:xfrm>
          <a:prstGeom prst="roundRect">
            <a:avLst>
              <a:gd name="adj" fmla="val 5155"/>
            </a:avLst>
          </a:prstGeom>
          <a:solidFill>
            <a:srgbClr val="3D1155"/>
          </a:solidFill>
          <a:ln w="12700">
            <a:solidFill>
              <a:srgbClr val="F39C12"/>
            </a:solidFill>
            <a:prstDash val="solid"/>
          </a:ln>
        </p:spPr>
        <p:txBody>
          <a:bodyPr/>
          <a:lstStyle/>
          <a:p>
            <a:endParaRPr lang="en-IN"/>
          </a:p>
        </p:txBody>
      </p:sp>
      <p:sp>
        <p:nvSpPr>
          <p:cNvPr id="21" name="Text 17"/>
          <p:cNvSpPr/>
          <p:nvPr/>
        </p:nvSpPr>
        <p:spPr>
          <a:xfrm>
            <a:off x="8631936" y="5541264"/>
            <a:ext cx="2304288" cy="0"/>
          </a:xfrm>
          <a:prstGeom prst="rect">
            <a:avLst/>
          </a:prstGeom>
          <a:noFill/>
          <a:ln/>
        </p:spPr>
        <p:txBody>
          <a:bodyPr wrap="square" lIns="0" tIns="0" rIns="0" bIns="0" rtlCol="0" anchor="ctr"/>
          <a:lstStyle/>
          <a:p>
            <a:pPr marL="0" indent="0">
              <a:buNone/>
            </a:pPr>
            <a:r>
              <a:rPr lang="en-US" sz="1000" b="1" dirty="0">
                <a:solidFill>
                  <a:srgbClr val="F39C12"/>
                </a:solidFill>
              </a:rPr>
              <a:t>Recommendation</a:t>
            </a:r>
            <a:endParaRPr lang="en-US" sz="1000" dirty="0"/>
          </a:p>
        </p:txBody>
      </p:sp>
      <p:sp>
        <p:nvSpPr>
          <p:cNvPr id="22" name="Text 18"/>
          <p:cNvSpPr/>
          <p:nvPr/>
        </p:nvSpPr>
        <p:spPr>
          <a:xfrm>
            <a:off x="8631936" y="5724144"/>
            <a:ext cx="2304288" cy="0"/>
          </a:xfrm>
          <a:prstGeom prst="rect">
            <a:avLst/>
          </a:prstGeom>
          <a:noFill/>
          <a:ln/>
        </p:spPr>
        <p:txBody>
          <a:bodyPr wrap="square" lIns="0" tIns="0" rIns="0" bIns="0" rtlCol="0" anchor="t">
            <a:normAutofit/>
          </a:bodyPr>
          <a:lstStyle/>
          <a:p>
            <a:pPr marL="0" indent="0">
              <a:buNone/>
            </a:pPr>
            <a:r>
              <a:rPr lang="en-US" sz="1050" dirty="0">
                <a:solidFill>
                  <a:srgbClr val="F8F0FF"/>
                </a:solidFill>
              </a:rPr>
              <a:t>For interpretability, monitor overlap among top variables. For prediction strength, tree-based models are naturally well suited here.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0A1E"/>
        </a:solidFill>
        <a:effectLst/>
      </p:bgPr>
    </p:bg>
    <p:spTree>
      <p:nvGrpSpPr>
        <p:cNvPr id="1" name=""/>
        <p:cNvGrpSpPr/>
        <p:nvPr/>
      </p:nvGrpSpPr>
      <p:grpSpPr>
        <a:xfrm>
          <a:off x="0" y="0"/>
          <a:ext cx="0" cy="0"/>
          <a:chOff x="0" y="0"/>
          <a:chExt cx="0" cy="0"/>
        </a:xfrm>
      </p:grpSpPr>
      <p:sp>
        <p:nvSpPr>
          <p:cNvPr id="2" name="Shape 0"/>
          <p:cNvSpPr/>
          <p:nvPr/>
        </p:nvSpPr>
        <p:spPr>
          <a:xfrm>
            <a:off x="0" y="0"/>
            <a:ext cx="0" cy="6858000"/>
          </a:xfrm>
          <a:prstGeom prst="rect">
            <a:avLst/>
          </a:prstGeom>
          <a:solidFill>
            <a:srgbClr val="1A0A1E"/>
          </a:solidFill>
          <a:ln w="12700">
            <a:solidFill>
              <a:srgbClr val="1A0A1E"/>
            </a:solidFill>
            <a:prstDash val="solid"/>
          </a:ln>
        </p:spPr>
        <p:txBody>
          <a:bodyPr/>
          <a:lstStyle/>
          <a:p>
            <a:endParaRPr lang="en-IN"/>
          </a:p>
        </p:txBody>
      </p:sp>
      <p:sp>
        <p:nvSpPr>
          <p:cNvPr id="3" name="Shape 1"/>
          <p:cNvSpPr/>
          <p:nvPr/>
        </p:nvSpPr>
        <p:spPr>
          <a:xfrm>
            <a:off x="0" y="0"/>
            <a:ext cx="0" cy="0"/>
          </a:xfrm>
          <a:prstGeom prst="rect">
            <a:avLst/>
          </a:prstGeom>
          <a:solidFill>
            <a:srgbClr val="C0392B"/>
          </a:solidFill>
          <a:ln w="12700">
            <a:solidFill>
              <a:srgbClr val="C0392B"/>
            </a:solidFill>
            <a:prstDash val="solid"/>
          </a:ln>
        </p:spPr>
        <p:txBody>
          <a:bodyPr/>
          <a:lstStyle/>
          <a:p>
            <a:endParaRPr lang="en-IN"/>
          </a:p>
        </p:txBody>
      </p:sp>
      <p:sp>
        <p:nvSpPr>
          <p:cNvPr id="4" name="Shape 2"/>
          <p:cNvSpPr/>
          <p:nvPr/>
        </p:nvSpPr>
        <p:spPr>
          <a:xfrm>
            <a:off x="0" y="6601968"/>
            <a:ext cx="0" cy="256032"/>
          </a:xfrm>
          <a:prstGeom prst="rect">
            <a:avLst/>
          </a:prstGeom>
          <a:solidFill>
            <a:srgbClr val="1F0D25"/>
          </a:solidFill>
          <a:ln w="12700">
            <a:solidFill>
              <a:srgbClr val="1F0D25"/>
            </a:solidFill>
            <a:prstDash val="solid"/>
          </a:ln>
        </p:spPr>
        <p:txBody>
          <a:bodyPr/>
          <a:lstStyle/>
          <a:p>
            <a:endParaRPr lang="en-IN"/>
          </a:p>
        </p:txBody>
      </p:sp>
      <p:sp>
        <p:nvSpPr>
          <p:cNvPr id="5" name="Text 3"/>
          <p:cNvSpPr/>
          <p:nvPr/>
        </p:nvSpPr>
        <p:spPr>
          <a:xfrm>
            <a:off x="457200" y="320040"/>
            <a:ext cx="7132320" cy="411480"/>
          </a:xfrm>
          <a:prstGeom prst="rect">
            <a:avLst/>
          </a:prstGeom>
          <a:noFill/>
          <a:ln/>
        </p:spPr>
        <p:txBody>
          <a:bodyPr wrap="square" lIns="0" tIns="0" rIns="0" bIns="0" rtlCol="0" anchor="ctr"/>
          <a:lstStyle/>
          <a:p>
            <a:pPr marL="0" indent="0">
              <a:buNone/>
            </a:pPr>
            <a:r>
              <a:rPr lang="en-US" sz="2400" b="1" dirty="0">
                <a:solidFill>
                  <a:srgbClr val="F8F0FF"/>
                </a:solidFill>
                <a:latin typeface="Aptos Display" pitchFamily="34" charset="0"/>
                <a:ea typeface="Aptos Display" pitchFamily="34" charset="-122"/>
                <a:cs typeface="Aptos Display" pitchFamily="34" charset="-120"/>
              </a:rPr>
              <a:t>Final ranking of what matters most</a:t>
            </a:r>
            <a:endParaRPr lang="en-US" sz="2400" dirty="0"/>
          </a:p>
        </p:txBody>
      </p:sp>
      <p:sp>
        <p:nvSpPr>
          <p:cNvPr id="6" name="Text 4"/>
          <p:cNvSpPr/>
          <p:nvPr/>
        </p:nvSpPr>
        <p:spPr>
          <a:xfrm>
            <a:off x="457200" y="731520"/>
            <a:ext cx="7863840" cy="219456"/>
          </a:xfrm>
          <a:prstGeom prst="rect">
            <a:avLst/>
          </a:prstGeom>
          <a:noFill/>
          <a:ln/>
        </p:spPr>
        <p:txBody>
          <a:bodyPr wrap="square" lIns="0" tIns="0" rIns="0" bIns="0" rtlCol="0" anchor="ctr"/>
          <a:lstStyle/>
          <a:p>
            <a:pPr marL="0" indent="0">
              <a:buNone/>
            </a:pPr>
            <a:r>
              <a:rPr lang="en-US" sz="950" dirty="0">
                <a:solidFill>
                  <a:srgbClr val="D7B8E8"/>
                </a:solidFill>
              </a:rPr>
              <a:t>The strongest variables are concentrated and interpretable.</a:t>
            </a:r>
            <a:endParaRPr lang="en-US" sz="950" dirty="0"/>
          </a:p>
        </p:txBody>
      </p:sp>
      <p:sp>
        <p:nvSpPr>
          <p:cNvPr id="7" name="Text 5"/>
          <p:cNvSpPr/>
          <p:nvPr/>
        </p:nvSpPr>
        <p:spPr>
          <a:xfrm>
            <a:off x="9235440" y="6656832"/>
            <a:ext cx="2468880" cy="137160"/>
          </a:xfrm>
          <a:prstGeom prst="rect">
            <a:avLst/>
          </a:prstGeom>
          <a:noFill/>
          <a:ln/>
        </p:spPr>
        <p:txBody>
          <a:bodyPr wrap="square" lIns="0" tIns="0" rIns="0" bIns="0" rtlCol="0" anchor="ctr"/>
          <a:lstStyle/>
          <a:p>
            <a:pPr marL="0" indent="0" algn="r">
              <a:buNone/>
            </a:pPr>
            <a:r>
              <a:rPr lang="en-US" sz="800" dirty="0">
                <a:solidFill>
                  <a:srgbClr val="BA8FD4"/>
                </a:solidFill>
              </a:rPr>
              <a:t>NHIS Project 4  •  Neha Chhapariya  •  7</a:t>
            </a:r>
            <a:endParaRPr lang="en-US" sz="800" dirty="0"/>
          </a:p>
        </p:txBody>
      </p:sp>
      <p:sp>
        <p:nvSpPr>
          <p:cNvPr id="8" name="Shape 6"/>
          <p:cNvSpPr/>
          <p:nvPr/>
        </p:nvSpPr>
        <p:spPr>
          <a:xfrm>
            <a:off x="457200" y="0"/>
            <a:ext cx="5623560" cy="4160520"/>
          </a:xfrm>
          <a:prstGeom prst="roundRect">
            <a:avLst>
              <a:gd name="adj" fmla="val 1758"/>
            </a:avLst>
          </a:prstGeom>
          <a:solidFill>
            <a:srgbClr val="1E0E2E"/>
          </a:solidFill>
          <a:ln w="12700">
            <a:solidFill>
              <a:srgbClr val="5E2680"/>
            </a:solidFill>
            <a:prstDash val="solid"/>
          </a:ln>
        </p:spPr>
        <p:txBody>
          <a:bodyPr/>
          <a:lstStyle/>
          <a:p>
            <a:endParaRPr lang="en-IN"/>
          </a:p>
        </p:txBody>
      </p:sp>
      <p:sp>
        <p:nvSpPr>
          <p:cNvPr id="9" name="Text 7"/>
          <p:cNvSpPr/>
          <p:nvPr/>
        </p:nvSpPr>
        <p:spPr>
          <a:xfrm>
            <a:off x="621792" y="1225296"/>
            <a:ext cx="5294376" cy="201168"/>
          </a:xfrm>
          <a:prstGeom prst="rect">
            <a:avLst/>
          </a:prstGeom>
          <a:noFill/>
          <a:ln/>
        </p:spPr>
        <p:txBody>
          <a:bodyPr wrap="square" lIns="0" tIns="0" rIns="0" bIns="0" rtlCol="0" anchor="ctr"/>
          <a:lstStyle/>
          <a:p>
            <a:pPr marL="0" indent="0">
              <a:buNone/>
            </a:pPr>
            <a:r>
              <a:rPr lang="en-US" sz="1050" b="1" dirty="0">
                <a:solidFill>
                  <a:srgbClr val="F39C12"/>
                </a:solidFill>
              </a:rPr>
              <a:t>Feature importance</a:t>
            </a:r>
            <a:endParaRPr lang="en-US" sz="1050" dirty="0"/>
          </a:p>
        </p:txBody>
      </p:sp>
      <p:pic>
        <p:nvPicPr>
          <p:cNvPr id="10" name="Image 0" descr="/mnt/data/reena_assets/plot_49.png"/>
          <p:cNvPicPr>
            <a:picLocks noChangeAspect="1"/>
          </p:cNvPicPr>
          <p:nvPr/>
        </p:nvPicPr>
        <p:blipFill>
          <a:blip r:embed="rId3"/>
          <a:stretch>
            <a:fillRect/>
          </a:stretch>
        </p:blipFill>
        <p:spPr>
          <a:xfrm>
            <a:off x="566928" y="1724236"/>
            <a:ext cx="5404104" cy="3180928"/>
          </a:xfrm>
          <a:prstGeom prst="rect">
            <a:avLst/>
          </a:prstGeom>
        </p:spPr>
      </p:pic>
      <p:sp>
        <p:nvSpPr>
          <p:cNvPr id="11" name="Shape 8"/>
          <p:cNvSpPr/>
          <p:nvPr/>
        </p:nvSpPr>
        <p:spPr>
          <a:xfrm>
            <a:off x="6236208" y="0"/>
            <a:ext cx="5486400" cy="4160520"/>
          </a:xfrm>
          <a:prstGeom prst="roundRect">
            <a:avLst>
              <a:gd name="adj" fmla="val 1758"/>
            </a:avLst>
          </a:prstGeom>
          <a:solidFill>
            <a:srgbClr val="1E0E2E"/>
          </a:solidFill>
          <a:ln w="12700">
            <a:solidFill>
              <a:srgbClr val="5E2680"/>
            </a:solidFill>
            <a:prstDash val="solid"/>
          </a:ln>
        </p:spPr>
        <p:txBody>
          <a:bodyPr/>
          <a:lstStyle/>
          <a:p>
            <a:endParaRPr lang="en-IN"/>
          </a:p>
        </p:txBody>
      </p:sp>
      <p:sp>
        <p:nvSpPr>
          <p:cNvPr id="12" name="Text 9"/>
          <p:cNvSpPr/>
          <p:nvPr/>
        </p:nvSpPr>
        <p:spPr>
          <a:xfrm>
            <a:off x="6400800" y="1225296"/>
            <a:ext cx="5157216" cy="201168"/>
          </a:xfrm>
          <a:prstGeom prst="rect">
            <a:avLst/>
          </a:prstGeom>
          <a:noFill/>
          <a:ln/>
        </p:spPr>
        <p:txBody>
          <a:bodyPr wrap="square" lIns="0" tIns="0" rIns="0" bIns="0" rtlCol="0" anchor="ctr"/>
          <a:lstStyle/>
          <a:p>
            <a:pPr marL="0" indent="0">
              <a:buNone/>
            </a:pPr>
            <a:r>
              <a:rPr lang="en-US" sz="1050" b="1" dirty="0">
                <a:solidFill>
                  <a:srgbClr val="F39C12"/>
                </a:solidFill>
              </a:rPr>
              <a:t>Processors by average price</a:t>
            </a:r>
            <a:endParaRPr lang="en-US" sz="1050" dirty="0"/>
          </a:p>
        </p:txBody>
      </p:sp>
      <p:pic>
        <p:nvPicPr>
          <p:cNvPr id="13" name="Image 1" descr="/mnt/data/reena_assets/plot_52.png"/>
          <p:cNvPicPr>
            <a:picLocks noChangeAspect="1"/>
          </p:cNvPicPr>
          <p:nvPr/>
        </p:nvPicPr>
        <p:blipFill>
          <a:blip r:embed="rId4"/>
          <a:stretch>
            <a:fillRect/>
          </a:stretch>
        </p:blipFill>
        <p:spPr>
          <a:xfrm>
            <a:off x="6345936" y="2002390"/>
            <a:ext cx="5266944" cy="2624620"/>
          </a:xfrm>
          <a:prstGeom prst="rect">
            <a:avLst/>
          </a:prstGeom>
        </p:spPr>
      </p:pic>
      <p:sp>
        <p:nvSpPr>
          <p:cNvPr id="14" name="Shape 10"/>
          <p:cNvSpPr/>
          <p:nvPr/>
        </p:nvSpPr>
        <p:spPr>
          <a:xfrm>
            <a:off x="640080" y="5449824"/>
            <a:ext cx="3703320" cy="886968"/>
          </a:xfrm>
          <a:prstGeom prst="roundRect">
            <a:avLst>
              <a:gd name="adj" fmla="val 5155"/>
            </a:avLst>
          </a:prstGeom>
          <a:solidFill>
            <a:srgbClr val="3D1155"/>
          </a:solidFill>
          <a:ln w="12700">
            <a:solidFill>
              <a:srgbClr val="C0392B"/>
            </a:solidFill>
            <a:prstDash val="solid"/>
          </a:ln>
        </p:spPr>
        <p:txBody>
          <a:bodyPr/>
          <a:lstStyle/>
          <a:p>
            <a:endParaRPr lang="en-IN"/>
          </a:p>
        </p:txBody>
      </p:sp>
      <p:sp>
        <p:nvSpPr>
          <p:cNvPr id="15" name="Text 11"/>
          <p:cNvSpPr/>
          <p:nvPr/>
        </p:nvSpPr>
        <p:spPr>
          <a:xfrm>
            <a:off x="768096" y="5541264"/>
            <a:ext cx="3447288" cy="0"/>
          </a:xfrm>
          <a:prstGeom prst="rect">
            <a:avLst/>
          </a:prstGeom>
          <a:noFill/>
          <a:ln/>
        </p:spPr>
        <p:txBody>
          <a:bodyPr wrap="square" lIns="0" tIns="0" rIns="0" bIns="0" rtlCol="0" anchor="ctr"/>
          <a:lstStyle/>
          <a:p>
            <a:pPr marL="0" indent="0">
              <a:buNone/>
            </a:pPr>
            <a:r>
              <a:rPr lang="en-US" sz="1000" b="1" dirty="0">
                <a:solidFill>
                  <a:srgbClr val="C0392B"/>
                </a:solidFill>
              </a:rPr>
              <a:t>Top predictors</a:t>
            </a:r>
            <a:endParaRPr lang="en-US" sz="1000" dirty="0"/>
          </a:p>
        </p:txBody>
      </p:sp>
      <p:sp>
        <p:nvSpPr>
          <p:cNvPr id="16" name="Text 12"/>
          <p:cNvSpPr/>
          <p:nvPr/>
        </p:nvSpPr>
        <p:spPr>
          <a:xfrm>
            <a:off x="768096" y="5724144"/>
            <a:ext cx="3447288" cy="0"/>
          </a:xfrm>
          <a:prstGeom prst="rect">
            <a:avLst/>
          </a:prstGeom>
          <a:noFill/>
          <a:ln/>
        </p:spPr>
        <p:txBody>
          <a:bodyPr wrap="square" lIns="0" tIns="0" rIns="0" bIns="0" rtlCol="0" anchor="t">
            <a:normAutofit/>
          </a:bodyPr>
          <a:lstStyle/>
          <a:p>
            <a:pPr marL="0" indent="0">
              <a:buNone/>
            </a:pPr>
            <a:r>
              <a:rPr lang="en-US" sz="1050" dirty="0">
                <a:solidFill>
                  <a:srgbClr val="F8F0FF"/>
                </a:solidFill>
              </a:rPr>
              <a:t>Memory ranks first, followed by Front Camera MP and RAM. Camera Score also performs strongly, which proves the engineered features added analytical value.</a:t>
            </a:r>
            <a:endParaRPr lang="en-US" sz="1050" dirty="0"/>
          </a:p>
        </p:txBody>
      </p:sp>
      <p:sp>
        <p:nvSpPr>
          <p:cNvPr id="17" name="Shape 13"/>
          <p:cNvSpPr/>
          <p:nvPr/>
        </p:nvSpPr>
        <p:spPr>
          <a:xfrm>
            <a:off x="4526280" y="5449824"/>
            <a:ext cx="3703320" cy="886968"/>
          </a:xfrm>
          <a:prstGeom prst="roundRect">
            <a:avLst>
              <a:gd name="adj" fmla="val 5155"/>
            </a:avLst>
          </a:prstGeom>
          <a:solidFill>
            <a:srgbClr val="3D1155"/>
          </a:solidFill>
          <a:ln w="12700">
            <a:solidFill>
              <a:srgbClr val="8D5CF6"/>
            </a:solidFill>
            <a:prstDash val="solid"/>
          </a:ln>
        </p:spPr>
        <p:txBody>
          <a:bodyPr/>
          <a:lstStyle/>
          <a:p>
            <a:endParaRPr lang="en-IN"/>
          </a:p>
        </p:txBody>
      </p:sp>
      <p:sp>
        <p:nvSpPr>
          <p:cNvPr id="18" name="Text 14"/>
          <p:cNvSpPr/>
          <p:nvPr/>
        </p:nvSpPr>
        <p:spPr>
          <a:xfrm>
            <a:off x="4654296" y="5541264"/>
            <a:ext cx="3447288" cy="0"/>
          </a:xfrm>
          <a:prstGeom prst="rect">
            <a:avLst/>
          </a:prstGeom>
          <a:noFill/>
          <a:ln/>
        </p:spPr>
        <p:txBody>
          <a:bodyPr wrap="square" lIns="0" tIns="0" rIns="0" bIns="0" rtlCol="0" anchor="ctr"/>
          <a:lstStyle/>
          <a:p>
            <a:pPr marL="0" indent="0">
              <a:buNone/>
            </a:pPr>
            <a:r>
              <a:rPr lang="en-US" sz="1000" b="1" dirty="0">
                <a:solidFill>
                  <a:srgbClr val="8D5CF6"/>
                </a:solidFill>
              </a:rPr>
              <a:t>Processor reading</a:t>
            </a:r>
            <a:endParaRPr lang="en-US" sz="1000" dirty="0"/>
          </a:p>
        </p:txBody>
      </p:sp>
      <p:sp>
        <p:nvSpPr>
          <p:cNvPr id="19" name="Text 15"/>
          <p:cNvSpPr/>
          <p:nvPr/>
        </p:nvSpPr>
        <p:spPr>
          <a:xfrm>
            <a:off x="4654296" y="5724144"/>
            <a:ext cx="3447288" cy="0"/>
          </a:xfrm>
          <a:prstGeom prst="rect">
            <a:avLst/>
          </a:prstGeom>
          <a:noFill/>
          <a:ln/>
        </p:spPr>
        <p:txBody>
          <a:bodyPr wrap="square" lIns="0" tIns="0" rIns="0" bIns="0" rtlCol="0" anchor="t">
            <a:normAutofit/>
          </a:bodyPr>
          <a:lstStyle/>
          <a:p>
            <a:pPr marL="0" indent="0">
              <a:buNone/>
            </a:pPr>
            <a:r>
              <a:rPr lang="en-US" sz="1050" dirty="0">
                <a:solidFill>
                  <a:srgbClr val="F8F0FF"/>
                </a:solidFill>
              </a:rPr>
              <a:t>Processor family acts as a reliable price-tier proxy. Premium chipsets align with premium positioning, while entry-level chipsets cluster in value-first devices.</a:t>
            </a:r>
            <a:endParaRPr lang="en-US" sz="1050" dirty="0"/>
          </a:p>
        </p:txBody>
      </p:sp>
      <p:sp>
        <p:nvSpPr>
          <p:cNvPr id="20" name="Shape 16"/>
          <p:cNvSpPr/>
          <p:nvPr/>
        </p:nvSpPr>
        <p:spPr>
          <a:xfrm>
            <a:off x="8412480" y="5449824"/>
            <a:ext cx="2834640" cy="886968"/>
          </a:xfrm>
          <a:prstGeom prst="roundRect">
            <a:avLst>
              <a:gd name="adj" fmla="val 5155"/>
            </a:avLst>
          </a:prstGeom>
          <a:solidFill>
            <a:srgbClr val="3D1155"/>
          </a:solidFill>
          <a:ln w="12700">
            <a:solidFill>
              <a:srgbClr val="F4A261"/>
            </a:solidFill>
            <a:prstDash val="solid"/>
          </a:ln>
        </p:spPr>
        <p:txBody>
          <a:bodyPr/>
          <a:lstStyle/>
          <a:p>
            <a:endParaRPr lang="en-IN"/>
          </a:p>
        </p:txBody>
      </p:sp>
      <p:sp>
        <p:nvSpPr>
          <p:cNvPr id="21" name="Text 17"/>
          <p:cNvSpPr/>
          <p:nvPr/>
        </p:nvSpPr>
        <p:spPr>
          <a:xfrm>
            <a:off x="8540496" y="5541264"/>
            <a:ext cx="2578608" cy="0"/>
          </a:xfrm>
          <a:prstGeom prst="rect">
            <a:avLst/>
          </a:prstGeom>
          <a:noFill/>
          <a:ln/>
        </p:spPr>
        <p:txBody>
          <a:bodyPr wrap="square" lIns="0" tIns="0" rIns="0" bIns="0" rtlCol="0" anchor="ctr"/>
          <a:lstStyle/>
          <a:p>
            <a:pPr marL="0" indent="0">
              <a:buNone/>
            </a:pPr>
            <a:r>
              <a:rPr lang="en-US" sz="1000" b="1" dirty="0">
                <a:solidFill>
                  <a:srgbClr val="F4A261"/>
                </a:solidFill>
              </a:rPr>
              <a:t>Action</a:t>
            </a:r>
            <a:endParaRPr lang="en-US" sz="1000" dirty="0"/>
          </a:p>
        </p:txBody>
      </p:sp>
      <p:sp>
        <p:nvSpPr>
          <p:cNvPr id="22" name="Text 18"/>
          <p:cNvSpPr/>
          <p:nvPr/>
        </p:nvSpPr>
        <p:spPr>
          <a:xfrm>
            <a:off x="8540496" y="5724144"/>
            <a:ext cx="2578608" cy="0"/>
          </a:xfrm>
          <a:prstGeom prst="rect">
            <a:avLst/>
          </a:prstGeom>
          <a:noFill/>
          <a:ln/>
        </p:spPr>
        <p:txBody>
          <a:bodyPr wrap="square" lIns="0" tIns="0" rIns="0" bIns="0" rtlCol="0" anchor="t">
            <a:normAutofit/>
          </a:bodyPr>
          <a:lstStyle/>
          <a:p>
            <a:pPr marL="0" indent="0">
              <a:buNone/>
            </a:pPr>
            <a:r>
              <a:rPr lang="en-US" sz="1050" dirty="0">
                <a:solidFill>
                  <a:srgbClr val="F8F0FF"/>
                </a:solidFill>
              </a:rPr>
              <a:t>Build the first model around the top six features and improve processor encoding in later iterations.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0A1E"/>
        </a:solidFill>
        <a:effectLst/>
      </p:bgPr>
    </p:bg>
    <p:spTree>
      <p:nvGrpSpPr>
        <p:cNvPr id="1" name=""/>
        <p:cNvGrpSpPr/>
        <p:nvPr/>
      </p:nvGrpSpPr>
      <p:grpSpPr>
        <a:xfrm>
          <a:off x="0" y="0"/>
          <a:ext cx="0" cy="0"/>
          <a:chOff x="0" y="0"/>
          <a:chExt cx="0" cy="0"/>
        </a:xfrm>
      </p:grpSpPr>
      <p:sp>
        <p:nvSpPr>
          <p:cNvPr id="2" name="Shape 0"/>
          <p:cNvSpPr/>
          <p:nvPr/>
        </p:nvSpPr>
        <p:spPr>
          <a:xfrm>
            <a:off x="0" y="0"/>
            <a:ext cx="0" cy="6858000"/>
          </a:xfrm>
          <a:prstGeom prst="rect">
            <a:avLst/>
          </a:prstGeom>
          <a:solidFill>
            <a:srgbClr val="1A0A1E"/>
          </a:solidFill>
          <a:ln w="12700">
            <a:solidFill>
              <a:srgbClr val="1A0A1E"/>
            </a:solidFill>
            <a:prstDash val="solid"/>
          </a:ln>
        </p:spPr>
        <p:txBody>
          <a:bodyPr/>
          <a:lstStyle/>
          <a:p>
            <a:endParaRPr lang="en-IN"/>
          </a:p>
        </p:txBody>
      </p:sp>
      <p:sp>
        <p:nvSpPr>
          <p:cNvPr id="3" name="Shape 1"/>
          <p:cNvSpPr/>
          <p:nvPr/>
        </p:nvSpPr>
        <p:spPr>
          <a:xfrm>
            <a:off x="0" y="0"/>
            <a:ext cx="0" cy="0"/>
          </a:xfrm>
          <a:prstGeom prst="rect">
            <a:avLst/>
          </a:prstGeom>
          <a:solidFill>
            <a:srgbClr val="C0392B"/>
          </a:solidFill>
          <a:ln w="12700">
            <a:solidFill>
              <a:srgbClr val="C0392B"/>
            </a:solidFill>
            <a:prstDash val="solid"/>
          </a:ln>
        </p:spPr>
        <p:txBody>
          <a:bodyPr/>
          <a:lstStyle/>
          <a:p>
            <a:endParaRPr lang="en-IN"/>
          </a:p>
        </p:txBody>
      </p:sp>
      <p:sp>
        <p:nvSpPr>
          <p:cNvPr id="4" name="Shape 2"/>
          <p:cNvSpPr/>
          <p:nvPr/>
        </p:nvSpPr>
        <p:spPr>
          <a:xfrm>
            <a:off x="0" y="6601968"/>
            <a:ext cx="0" cy="256032"/>
          </a:xfrm>
          <a:prstGeom prst="rect">
            <a:avLst/>
          </a:prstGeom>
          <a:solidFill>
            <a:srgbClr val="1F0D25"/>
          </a:solidFill>
          <a:ln w="12700">
            <a:solidFill>
              <a:srgbClr val="1F0D25"/>
            </a:solidFill>
            <a:prstDash val="solid"/>
          </a:ln>
        </p:spPr>
        <p:txBody>
          <a:bodyPr/>
          <a:lstStyle/>
          <a:p>
            <a:endParaRPr lang="en-IN"/>
          </a:p>
        </p:txBody>
      </p:sp>
      <p:sp>
        <p:nvSpPr>
          <p:cNvPr id="5" name="Text 3"/>
          <p:cNvSpPr/>
          <p:nvPr/>
        </p:nvSpPr>
        <p:spPr>
          <a:xfrm>
            <a:off x="457200" y="320040"/>
            <a:ext cx="7132320" cy="411480"/>
          </a:xfrm>
          <a:prstGeom prst="rect">
            <a:avLst/>
          </a:prstGeom>
          <a:noFill/>
          <a:ln/>
        </p:spPr>
        <p:txBody>
          <a:bodyPr wrap="square" lIns="0" tIns="0" rIns="0" bIns="0" rtlCol="0" anchor="ctr"/>
          <a:lstStyle/>
          <a:p>
            <a:pPr marL="0" indent="0">
              <a:buNone/>
            </a:pPr>
            <a:r>
              <a:rPr lang="en-US" sz="2400" b="1" dirty="0">
                <a:solidFill>
                  <a:srgbClr val="F8F0FF"/>
                </a:solidFill>
                <a:latin typeface="Aptos Display" pitchFamily="34" charset="0"/>
                <a:ea typeface="Aptos Display" pitchFamily="34" charset="-122"/>
                <a:cs typeface="Aptos Display" pitchFamily="34" charset="-120"/>
              </a:rPr>
              <a:t>Interaction effects and engineered dataset readiness</a:t>
            </a:r>
            <a:endParaRPr lang="en-US" sz="2400" dirty="0"/>
          </a:p>
        </p:txBody>
      </p:sp>
      <p:sp>
        <p:nvSpPr>
          <p:cNvPr id="6" name="Text 4"/>
          <p:cNvSpPr/>
          <p:nvPr/>
        </p:nvSpPr>
        <p:spPr>
          <a:xfrm>
            <a:off x="457200" y="731520"/>
            <a:ext cx="7863840" cy="219456"/>
          </a:xfrm>
          <a:prstGeom prst="rect">
            <a:avLst/>
          </a:prstGeom>
          <a:noFill/>
          <a:ln/>
        </p:spPr>
        <p:txBody>
          <a:bodyPr wrap="square" lIns="0" tIns="0" rIns="0" bIns="0" rtlCol="0" anchor="ctr"/>
          <a:lstStyle/>
          <a:p>
            <a:pPr marL="0" indent="0">
              <a:buNone/>
            </a:pPr>
            <a:r>
              <a:rPr lang="en-US" sz="950" dirty="0">
                <a:solidFill>
                  <a:srgbClr val="D7B8E8"/>
                </a:solidFill>
              </a:rPr>
              <a:t>The project ends with a dataset that is not just clean, but modelling-ready.</a:t>
            </a:r>
            <a:endParaRPr lang="en-US" sz="950" dirty="0"/>
          </a:p>
        </p:txBody>
      </p:sp>
      <p:sp>
        <p:nvSpPr>
          <p:cNvPr id="7" name="Text 5"/>
          <p:cNvSpPr/>
          <p:nvPr/>
        </p:nvSpPr>
        <p:spPr>
          <a:xfrm>
            <a:off x="9235440" y="6656832"/>
            <a:ext cx="2468880" cy="137160"/>
          </a:xfrm>
          <a:prstGeom prst="rect">
            <a:avLst/>
          </a:prstGeom>
          <a:noFill/>
          <a:ln/>
        </p:spPr>
        <p:txBody>
          <a:bodyPr wrap="square" lIns="0" tIns="0" rIns="0" bIns="0" rtlCol="0" anchor="ctr"/>
          <a:lstStyle/>
          <a:p>
            <a:pPr marL="0" indent="0" algn="r">
              <a:buNone/>
            </a:pPr>
            <a:r>
              <a:rPr lang="en-US" sz="800" dirty="0">
                <a:solidFill>
                  <a:srgbClr val="BA8FD4"/>
                </a:solidFill>
              </a:rPr>
              <a:t>NHIS Project 4  •  Neha Chhapariya  •  8</a:t>
            </a:r>
            <a:endParaRPr lang="en-US" sz="800" dirty="0"/>
          </a:p>
        </p:txBody>
      </p:sp>
      <p:sp>
        <p:nvSpPr>
          <p:cNvPr id="8" name="Shape 6"/>
          <p:cNvSpPr/>
          <p:nvPr/>
        </p:nvSpPr>
        <p:spPr>
          <a:xfrm>
            <a:off x="457200" y="0"/>
            <a:ext cx="5257800" cy="4160520"/>
          </a:xfrm>
          <a:prstGeom prst="roundRect">
            <a:avLst>
              <a:gd name="adj" fmla="val 1758"/>
            </a:avLst>
          </a:prstGeom>
          <a:solidFill>
            <a:srgbClr val="1E0E2E"/>
          </a:solidFill>
          <a:ln w="12700">
            <a:solidFill>
              <a:srgbClr val="5E2680"/>
            </a:solidFill>
            <a:prstDash val="solid"/>
          </a:ln>
        </p:spPr>
        <p:txBody>
          <a:bodyPr/>
          <a:lstStyle/>
          <a:p>
            <a:endParaRPr lang="en-IN"/>
          </a:p>
        </p:txBody>
      </p:sp>
      <p:sp>
        <p:nvSpPr>
          <p:cNvPr id="9" name="Text 7"/>
          <p:cNvSpPr/>
          <p:nvPr/>
        </p:nvSpPr>
        <p:spPr>
          <a:xfrm>
            <a:off x="621792" y="1225296"/>
            <a:ext cx="4928616" cy="201168"/>
          </a:xfrm>
          <a:prstGeom prst="rect">
            <a:avLst/>
          </a:prstGeom>
          <a:noFill/>
          <a:ln/>
        </p:spPr>
        <p:txBody>
          <a:bodyPr wrap="square" lIns="0" tIns="0" rIns="0" bIns="0" rtlCol="0" anchor="ctr"/>
          <a:lstStyle/>
          <a:p>
            <a:pPr marL="0" indent="0">
              <a:buNone/>
            </a:pPr>
            <a:r>
              <a:rPr lang="en-US" sz="1050" b="1" dirty="0">
                <a:solidFill>
                  <a:srgbClr val="F39C12"/>
                </a:solidFill>
              </a:rPr>
              <a:t>RAM × storage heatmap</a:t>
            </a:r>
            <a:endParaRPr lang="en-US" sz="1050" dirty="0"/>
          </a:p>
        </p:txBody>
      </p:sp>
      <p:pic>
        <p:nvPicPr>
          <p:cNvPr id="10" name="Image 0" descr="/mnt/data/reena_assets/plot_55.png"/>
          <p:cNvPicPr>
            <a:picLocks noChangeAspect="1"/>
          </p:cNvPicPr>
          <p:nvPr/>
        </p:nvPicPr>
        <p:blipFill>
          <a:blip r:embed="rId3"/>
          <a:stretch>
            <a:fillRect/>
          </a:stretch>
        </p:blipFill>
        <p:spPr>
          <a:xfrm>
            <a:off x="566928" y="1735864"/>
            <a:ext cx="5038344" cy="3157672"/>
          </a:xfrm>
          <a:prstGeom prst="rect">
            <a:avLst/>
          </a:prstGeom>
        </p:spPr>
      </p:pic>
      <p:sp>
        <p:nvSpPr>
          <p:cNvPr id="11" name="Shape 8"/>
          <p:cNvSpPr/>
          <p:nvPr/>
        </p:nvSpPr>
        <p:spPr>
          <a:xfrm>
            <a:off x="5897880" y="0"/>
            <a:ext cx="5833872" cy="4160520"/>
          </a:xfrm>
          <a:prstGeom prst="roundRect">
            <a:avLst>
              <a:gd name="adj" fmla="val 1758"/>
            </a:avLst>
          </a:prstGeom>
          <a:solidFill>
            <a:srgbClr val="1E0E2E"/>
          </a:solidFill>
          <a:ln w="12700">
            <a:solidFill>
              <a:srgbClr val="5E2680"/>
            </a:solidFill>
            <a:prstDash val="solid"/>
          </a:ln>
        </p:spPr>
        <p:txBody>
          <a:bodyPr/>
          <a:lstStyle/>
          <a:p>
            <a:endParaRPr lang="en-IN"/>
          </a:p>
        </p:txBody>
      </p:sp>
      <p:sp>
        <p:nvSpPr>
          <p:cNvPr id="12" name="Text 9"/>
          <p:cNvSpPr/>
          <p:nvPr/>
        </p:nvSpPr>
        <p:spPr>
          <a:xfrm>
            <a:off x="6062472" y="1225296"/>
            <a:ext cx="5504688" cy="201168"/>
          </a:xfrm>
          <a:prstGeom prst="rect">
            <a:avLst/>
          </a:prstGeom>
          <a:noFill/>
          <a:ln/>
        </p:spPr>
        <p:txBody>
          <a:bodyPr wrap="square" lIns="0" tIns="0" rIns="0" bIns="0" rtlCol="0" anchor="ctr"/>
          <a:lstStyle/>
          <a:p>
            <a:pPr marL="0" indent="0">
              <a:buNone/>
            </a:pPr>
            <a:r>
              <a:rPr lang="en-US" sz="1050" b="1" dirty="0">
                <a:solidFill>
                  <a:srgbClr val="F39C12"/>
                </a:solidFill>
              </a:rPr>
              <a:t>Feature engineering summary</a:t>
            </a:r>
            <a:endParaRPr lang="en-US" sz="1050" dirty="0"/>
          </a:p>
        </p:txBody>
      </p:sp>
      <p:pic>
        <p:nvPicPr>
          <p:cNvPr id="13" name="Image 1" descr="/mnt/data/reena_assets/plot_58.png"/>
          <p:cNvPicPr>
            <a:picLocks noChangeAspect="1"/>
          </p:cNvPicPr>
          <p:nvPr/>
        </p:nvPicPr>
        <p:blipFill>
          <a:blip r:embed="rId4"/>
          <a:stretch>
            <a:fillRect/>
          </a:stretch>
        </p:blipFill>
        <p:spPr>
          <a:xfrm>
            <a:off x="6007608" y="1548150"/>
            <a:ext cx="5614416" cy="3533099"/>
          </a:xfrm>
          <a:prstGeom prst="rect">
            <a:avLst/>
          </a:prstGeom>
        </p:spPr>
      </p:pic>
      <p:sp>
        <p:nvSpPr>
          <p:cNvPr id="14" name="Shape 10"/>
          <p:cNvSpPr/>
          <p:nvPr/>
        </p:nvSpPr>
        <p:spPr>
          <a:xfrm>
            <a:off x="640080" y="5449824"/>
            <a:ext cx="3657600" cy="886968"/>
          </a:xfrm>
          <a:prstGeom prst="roundRect">
            <a:avLst>
              <a:gd name="adj" fmla="val 5155"/>
            </a:avLst>
          </a:prstGeom>
          <a:solidFill>
            <a:srgbClr val="3D1155"/>
          </a:solidFill>
          <a:ln w="12700">
            <a:solidFill>
              <a:srgbClr val="4CC9F0"/>
            </a:solidFill>
            <a:prstDash val="solid"/>
          </a:ln>
        </p:spPr>
        <p:txBody>
          <a:bodyPr/>
          <a:lstStyle/>
          <a:p>
            <a:endParaRPr lang="en-IN"/>
          </a:p>
        </p:txBody>
      </p:sp>
      <p:sp>
        <p:nvSpPr>
          <p:cNvPr id="15" name="Text 11"/>
          <p:cNvSpPr/>
          <p:nvPr/>
        </p:nvSpPr>
        <p:spPr>
          <a:xfrm>
            <a:off x="768096" y="5541264"/>
            <a:ext cx="3401568" cy="0"/>
          </a:xfrm>
          <a:prstGeom prst="rect">
            <a:avLst/>
          </a:prstGeom>
          <a:noFill/>
          <a:ln/>
        </p:spPr>
        <p:txBody>
          <a:bodyPr wrap="square" lIns="0" tIns="0" rIns="0" bIns="0" rtlCol="0" anchor="ctr"/>
          <a:lstStyle/>
          <a:p>
            <a:pPr marL="0" indent="0">
              <a:buNone/>
            </a:pPr>
            <a:r>
              <a:rPr lang="en-US" sz="1000" b="1" dirty="0">
                <a:solidFill>
                  <a:srgbClr val="4CC9F0"/>
                </a:solidFill>
              </a:rPr>
              <a:t>Interaction insight</a:t>
            </a:r>
            <a:endParaRPr lang="en-US" sz="1000" dirty="0"/>
          </a:p>
        </p:txBody>
      </p:sp>
      <p:sp>
        <p:nvSpPr>
          <p:cNvPr id="16" name="Text 12"/>
          <p:cNvSpPr/>
          <p:nvPr/>
        </p:nvSpPr>
        <p:spPr>
          <a:xfrm>
            <a:off x="768096" y="5724144"/>
            <a:ext cx="3401568" cy="0"/>
          </a:xfrm>
          <a:prstGeom prst="rect">
            <a:avLst/>
          </a:prstGeom>
          <a:noFill/>
          <a:ln/>
        </p:spPr>
        <p:txBody>
          <a:bodyPr wrap="square" lIns="0" tIns="0" rIns="0" bIns="0" rtlCol="0" anchor="t">
            <a:normAutofit/>
          </a:bodyPr>
          <a:lstStyle/>
          <a:p>
            <a:pPr marL="0" indent="0">
              <a:buNone/>
            </a:pPr>
            <a:r>
              <a:rPr lang="en-US" sz="1050" dirty="0">
                <a:solidFill>
                  <a:srgbClr val="F8F0FF"/>
                </a:solidFill>
              </a:rPr>
              <a:t>The highest prices occur when RAM and storage rise together. Balanced high-end configurations matter more than isolated specification upgrades.</a:t>
            </a:r>
            <a:endParaRPr lang="en-US" sz="1050" dirty="0"/>
          </a:p>
        </p:txBody>
      </p:sp>
      <p:sp>
        <p:nvSpPr>
          <p:cNvPr id="17" name="Shape 13"/>
          <p:cNvSpPr/>
          <p:nvPr/>
        </p:nvSpPr>
        <p:spPr>
          <a:xfrm>
            <a:off x="4480560" y="5449824"/>
            <a:ext cx="3703320" cy="886968"/>
          </a:xfrm>
          <a:prstGeom prst="roundRect">
            <a:avLst>
              <a:gd name="adj" fmla="val 5155"/>
            </a:avLst>
          </a:prstGeom>
          <a:solidFill>
            <a:srgbClr val="3D1155"/>
          </a:solidFill>
          <a:ln w="12700">
            <a:solidFill>
              <a:srgbClr val="C0392B"/>
            </a:solidFill>
            <a:prstDash val="solid"/>
          </a:ln>
        </p:spPr>
        <p:txBody>
          <a:bodyPr/>
          <a:lstStyle/>
          <a:p>
            <a:endParaRPr lang="en-IN"/>
          </a:p>
        </p:txBody>
      </p:sp>
      <p:sp>
        <p:nvSpPr>
          <p:cNvPr id="18" name="Text 14"/>
          <p:cNvSpPr/>
          <p:nvPr/>
        </p:nvSpPr>
        <p:spPr>
          <a:xfrm>
            <a:off x="4608576" y="5541264"/>
            <a:ext cx="3447288" cy="0"/>
          </a:xfrm>
          <a:prstGeom prst="rect">
            <a:avLst/>
          </a:prstGeom>
          <a:noFill/>
          <a:ln/>
        </p:spPr>
        <p:txBody>
          <a:bodyPr wrap="square" lIns="0" tIns="0" rIns="0" bIns="0" rtlCol="0" anchor="ctr"/>
          <a:lstStyle/>
          <a:p>
            <a:pPr marL="0" indent="0">
              <a:buNone/>
            </a:pPr>
            <a:r>
              <a:rPr lang="en-US" sz="1000" b="1" dirty="0">
                <a:solidFill>
                  <a:srgbClr val="C0392B"/>
                </a:solidFill>
              </a:rPr>
              <a:t>Engineering outcome</a:t>
            </a:r>
            <a:endParaRPr lang="en-US" sz="1000" dirty="0"/>
          </a:p>
        </p:txBody>
      </p:sp>
      <p:sp>
        <p:nvSpPr>
          <p:cNvPr id="19" name="Text 15"/>
          <p:cNvSpPr/>
          <p:nvPr/>
        </p:nvSpPr>
        <p:spPr>
          <a:xfrm>
            <a:off x="4608576" y="5724144"/>
            <a:ext cx="3447288" cy="0"/>
          </a:xfrm>
          <a:prstGeom prst="rect">
            <a:avLst/>
          </a:prstGeom>
          <a:noFill/>
          <a:ln/>
        </p:spPr>
        <p:txBody>
          <a:bodyPr wrap="square" lIns="0" tIns="0" rIns="0" bIns="0" rtlCol="0" anchor="t">
            <a:normAutofit/>
          </a:bodyPr>
          <a:lstStyle/>
          <a:p>
            <a:pPr marL="0" indent="0">
              <a:buNone/>
            </a:pPr>
            <a:r>
              <a:rPr lang="en-US" sz="1050" dirty="0">
                <a:solidFill>
                  <a:srgbClr val="F8F0FF"/>
                </a:solidFill>
              </a:rPr>
              <a:t>Raw text features were converted into structured predictors such as Rear_Camera_MP, Front_Camera_MP, Camera_Score, Price_Tier, and RAM_Memory_Ratio.</a:t>
            </a:r>
            <a:endParaRPr lang="en-US" sz="1050" dirty="0"/>
          </a:p>
        </p:txBody>
      </p:sp>
      <p:sp>
        <p:nvSpPr>
          <p:cNvPr id="20" name="Shape 16"/>
          <p:cNvSpPr/>
          <p:nvPr/>
        </p:nvSpPr>
        <p:spPr>
          <a:xfrm>
            <a:off x="8394192" y="5449824"/>
            <a:ext cx="2788920" cy="886968"/>
          </a:xfrm>
          <a:prstGeom prst="roundRect">
            <a:avLst>
              <a:gd name="adj" fmla="val 5155"/>
            </a:avLst>
          </a:prstGeom>
          <a:solidFill>
            <a:srgbClr val="3D1155"/>
          </a:solidFill>
          <a:ln w="12700">
            <a:solidFill>
              <a:srgbClr val="F39C12"/>
            </a:solidFill>
            <a:prstDash val="solid"/>
          </a:ln>
        </p:spPr>
        <p:txBody>
          <a:bodyPr/>
          <a:lstStyle/>
          <a:p>
            <a:endParaRPr lang="en-IN"/>
          </a:p>
        </p:txBody>
      </p:sp>
      <p:sp>
        <p:nvSpPr>
          <p:cNvPr id="21" name="Text 17"/>
          <p:cNvSpPr/>
          <p:nvPr/>
        </p:nvSpPr>
        <p:spPr>
          <a:xfrm>
            <a:off x="8522208" y="5541264"/>
            <a:ext cx="2532888" cy="0"/>
          </a:xfrm>
          <a:prstGeom prst="rect">
            <a:avLst/>
          </a:prstGeom>
          <a:noFill/>
          <a:ln/>
        </p:spPr>
        <p:txBody>
          <a:bodyPr wrap="square" lIns="0" tIns="0" rIns="0" bIns="0" rtlCol="0" anchor="ctr"/>
          <a:lstStyle/>
          <a:p>
            <a:pPr marL="0" indent="0">
              <a:buNone/>
            </a:pPr>
            <a:r>
              <a:rPr lang="en-US" sz="1000" b="1" dirty="0">
                <a:solidFill>
                  <a:srgbClr val="F39C12"/>
                </a:solidFill>
              </a:rPr>
              <a:t>Readiness</a:t>
            </a:r>
            <a:endParaRPr lang="en-US" sz="1000" dirty="0"/>
          </a:p>
        </p:txBody>
      </p:sp>
      <p:sp>
        <p:nvSpPr>
          <p:cNvPr id="22" name="Text 18"/>
          <p:cNvSpPr/>
          <p:nvPr/>
        </p:nvSpPr>
        <p:spPr>
          <a:xfrm>
            <a:off x="8522208" y="5724144"/>
            <a:ext cx="2532888" cy="0"/>
          </a:xfrm>
          <a:prstGeom prst="rect">
            <a:avLst/>
          </a:prstGeom>
          <a:noFill/>
          <a:ln/>
        </p:spPr>
        <p:txBody>
          <a:bodyPr wrap="square" lIns="0" tIns="0" rIns="0" bIns="0" rtlCol="0" anchor="t">
            <a:normAutofit/>
          </a:bodyPr>
          <a:lstStyle/>
          <a:p>
            <a:pPr marL="0" indent="0">
              <a:buNone/>
            </a:pPr>
            <a:r>
              <a:rPr lang="en-US" sz="1050" dirty="0">
                <a:solidFill>
                  <a:srgbClr val="F8F0FF"/>
                </a:solidFill>
              </a:rPr>
              <a:t>The notebook successfully finishes as an ML-ready feature layer, not just a visualization exercise.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0A1E"/>
        </a:solidFill>
        <a:effectLst/>
      </p:bgPr>
    </p:bg>
    <p:spTree>
      <p:nvGrpSpPr>
        <p:cNvPr id="1" name=""/>
        <p:cNvGrpSpPr/>
        <p:nvPr/>
      </p:nvGrpSpPr>
      <p:grpSpPr>
        <a:xfrm>
          <a:off x="0" y="0"/>
          <a:ext cx="0" cy="0"/>
          <a:chOff x="0" y="0"/>
          <a:chExt cx="0" cy="0"/>
        </a:xfrm>
      </p:grpSpPr>
      <p:sp>
        <p:nvSpPr>
          <p:cNvPr id="2" name="Shape 0"/>
          <p:cNvSpPr/>
          <p:nvPr/>
        </p:nvSpPr>
        <p:spPr>
          <a:xfrm>
            <a:off x="0" y="0"/>
            <a:ext cx="0" cy="6858000"/>
          </a:xfrm>
          <a:prstGeom prst="rect">
            <a:avLst/>
          </a:prstGeom>
          <a:solidFill>
            <a:srgbClr val="1A0A1E"/>
          </a:solidFill>
          <a:ln w="12700">
            <a:solidFill>
              <a:srgbClr val="1A0A1E"/>
            </a:solidFill>
            <a:prstDash val="solid"/>
          </a:ln>
        </p:spPr>
        <p:txBody>
          <a:bodyPr/>
          <a:lstStyle/>
          <a:p>
            <a:endParaRPr lang="en-IN"/>
          </a:p>
        </p:txBody>
      </p:sp>
      <p:sp>
        <p:nvSpPr>
          <p:cNvPr id="3" name="Shape 1"/>
          <p:cNvSpPr/>
          <p:nvPr/>
        </p:nvSpPr>
        <p:spPr>
          <a:xfrm>
            <a:off x="0" y="0"/>
            <a:ext cx="0" cy="0"/>
          </a:xfrm>
          <a:prstGeom prst="rect">
            <a:avLst/>
          </a:prstGeom>
          <a:solidFill>
            <a:srgbClr val="C0392B"/>
          </a:solidFill>
          <a:ln w="12700">
            <a:solidFill>
              <a:srgbClr val="C0392B"/>
            </a:solidFill>
            <a:prstDash val="solid"/>
          </a:ln>
        </p:spPr>
        <p:txBody>
          <a:bodyPr/>
          <a:lstStyle/>
          <a:p>
            <a:endParaRPr lang="en-IN"/>
          </a:p>
        </p:txBody>
      </p:sp>
      <p:sp>
        <p:nvSpPr>
          <p:cNvPr id="4" name="Shape 2"/>
          <p:cNvSpPr/>
          <p:nvPr/>
        </p:nvSpPr>
        <p:spPr>
          <a:xfrm>
            <a:off x="0" y="6601968"/>
            <a:ext cx="0" cy="256032"/>
          </a:xfrm>
          <a:prstGeom prst="rect">
            <a:avLst/>
          </a:prstGeom>
          <a:solidFill>
            <a:srgbClr val="1F0D25"/>
          </a:solidFill>
          <a:ln w="12700">
            <a:solidFill>
              <a:srgbClr val="1F0D25"/>
            </a:solidFill>
            <a:prstDash val="solid"/>
          </a:ln>
        </p:spPr>
        <p:txBody>
          <a:bodyPr/>
          <a:lstStyle/>
          <a:p>
            <a:endParaRPr lang="en-IN"/>
          </a:p>
        </p:txBody>
      </p:sp>
      <p:sp>
        <p:nvSpPr>
          <p:cNvPr id="5" name="Text 3"/>
          <p:cNvSpPr/>
          <p:nvPr/>
        </p:nvSpPr>
        <p:spPr>
          <a:xfrm>
            <a:off x="457200" y="320040"/>
            <a:ext cx="7132320" cy="411480"/>
          </a:xfrm>
          <a:prstGeom prst="rect">
            <a:avLst/>
          </a:prstGeom>
          <a:noFill/>
          <a:ln/>
        </p:spPr>
        <p:txBody>
          <a:bodyPr wrap="square" lIns="0" tIns="0" rIns="0" bIns="0" rtlCol="0" anchor="ctr"/>
          <a:lstStyle/>
          <a:p>
            <a:pPr marL="0" indent="0">
              <a:buNone/>
            </a:pPr>
            <a:r>
              <a:rPr lang="en-US" sz="2400" b="1" dirty="0">
                <a:solidFill>
                  <a:srgbClr val="F8F0FF"/>
                </a:solidFill>
                <a:latin typeface="Aptos Display" pitchFamily="34" charset="0"/>
                <a:ea typeface="Aptos Display" pitchFamily="34" charset="-122"/>
                <a:cs typeface="Aptos Display" pitchFamily="34" charset="-120"/>
              </a:rPr>
              <a:t>Model-ready conclusion</a:t>
            </a:r>
            <a:endParaRPr lang="en-US" sz="2400" dirty="0"/>
          </a:p>
        </p:txBody>
      </p:sp>
      <p:sp>
        <p:nvSpPr>
          <p:cNvPr id="6" name="Text 4"/>
          <p:cNvSpPr/>
          <p:nvPr/>
        </p:nvSpPr>
        <p:spPr>
          <a:xfrm>
            <a:off x="457200" y="731520"/>
            <a:ext cx="7863840" cy="219456"/>
          </a:xfrm>
          <a:prstGeom prst="rect">
            <a:avLst/>
          </a:prstGeom>
          <a:noFill/>
          <a:ln/>
        </p:spPr>
        <p:txBody>
          <a:bodyPr wrap="square" lIns="0" tIns="0" rIns="0" bIns="0" rtlCol="0" anchor="ctr"/>
          <a:lstStyle/>
          <a:p>
            <a:pPr marL="0" indent="0">
              <a:buNone/>
            </a:pPr>
            <a:r>
              <a:rPr lang="en-US" sz="950" dirty="0">
                <a:solidFill>
                  <a:srgbClr val="D7B8E8"/>
                </a:solidFill>
              </a:rPr>
              <a:t>A concise view of what should go into the first price-prediction model.</a:t>
            </a:r>
            <a:endParaRPr lang="en-US" sz="950" dirty="0"/>
          </a:p>
        </p:txBody>
      </p:sp>
      <p:sp>
        <p:nvSpPr>
          <p:cNvPr id="7" name="Text 5"/>
          <p:cNvSpPr/>
          <p:nvPr/>
        </p:nvSpPr>
        <p:spPr>
          <a:xfrm>
            <a:off x="9235440" y="6656832"/>
            <a:ext cx="2468880" cy="137160"/>
          </a:xfrm>
          <a:prstGeom prst="rect">
            <a:avLst/>
          </a:prstGeom>
          <a:noFill/>
          <a:ln/>
        </p:spPr>
        <p:txBody>
          <a:bodyPr wrap="square" lIns="0" tIns="0" rIns="0" bIns="0" rtlCol="0" anchor="ctr"/>
          <a:lstStyle/>
          <a:p>
            <a:pPr marL="0" indent="0" algn="r">
              <a:buNone/>
            </a:pPr>
            <a:r>
              <a:rPr lang="en-US" sz="800" dirty="0">
                <a:solidFill>
                  <a:srgbClr val="BA8FD4"/>
                </a:solidFill>
              </a:rPr>
              <a:t>NHIS Project 4  •  Neha Chhapariya  •  9</a:t>
            </a:r>
            <a:endParaRPr lang="en-US" sz="800" dirty="0"/>
          </a:p>
        </p:txBody>
      </p:sp>
      <p:sp>
        <p:nvSpPr>
          <p:cNvPr id="8" name="Shape 6"/>
          <p:cNvSpPr/>
          <p:nvPr/>
        </p:nvSpPr>
        <p:spPr>
          <a:xfrm>
            <a:off x="502920" y="1078992"/>
            <a:ext cx="3657600" cy="5349240"/>
          </a:xfrm>
          <a:prstGeom prst="roundRect">
            <a:avLst>
              <a:gd name="adj" fmla="val 2000"/>
            </a:avLst>
          </a:prstGeom>
          <a:solidFill>
            <a:srgbClr val="1E0E2E"/>
          </a:solidFill>
          <a:ln w="12700">
            <a:solidFill>
              <a:srgbClr val="5E2680"/>
            </a:solidFill>
            <a:prstDash val="solid"/>
          </a:ln>
        </p:spPr>
        <p:txBody>
          <a:bodyPr/>
          <a:lstStyle/>
          <a:p>
            <a:endParaRPr lang="en-IN"/>
          </a:p>
        </p:txBody>
      </p:sp>
      <p:sp>
        <p:nvSpPr>
          <p:cNvPr id="9" name="Text 7"/>
          <p:cNvSpPr/>
          <p:nvPr/>
        </p:nvSpPr>
        <p:spPr>
          <a:xfrm>
            <a:off x="667512" y="1188720"/>
            <a:ext cx="3328416" cy="201168"/>
          </a:xfrm>
          <a:prstGeom prst="rect">
            <a:avLst/>
          </a:prstGeom>
          <a:noFill/>
          <a:ln/>
        </p:spPr>
        <p:txBody>
          <a:bodyPr wrap="square" lIns="0" tIns="0" rIns="0" bIns="0" rtlCol="0" anchor="ctr"/>
          <a:lstStyle/>
          <a:p>
            <a:pPr marL="0" indent="0">
              <a:buNone/>
            </a:pPr>
            <a:r>
              <a:rPr lang="en-US" sz="1050" b="1" dirty="0">
                <a:solidFill>
                  <a:srgbClr val="F39C12"/>
                </a:solidFill>
              </a:rPr>
              <a:t>Recommended feature set</a:t>
            </a:r>
            <a:endParaRPr lang="en-US" sz="1050" dirty="0"/>
          </a:p>
        </p:txBody>
      </p:sp>
      <p:sp>
        <p:nvSpPr>
          <p:cNvPr id="10" name="Text 8"/>
          <p:cNvSpPr/>
          <p:nvPr/>
        </p:nvSpPr>
        <p:spPr>
          <a:xfrm>
            <a:off x="713232" y="1481328"/>
            <a:ext cx="3246120" cy="2377440"/>
          </a:xfrm>
          <a:prstGeom prst="rect">
            <a:avLst/>
          </a:prstGeom>
          <a:noFill/>
          <a:ln/>
        </p:spPr>
        <p:txBody>
          <a:bodyPr wrap="square" lIns="254" tIns="254" rIns="254" bIns="254" rtlCol="0" anchor="t">
            <a:normAutofit/>
          </a:bodyPr>
          <a:lstStyle/>
          <a:p>
            <a:pPr marL="0" indent="0">
              <a:buNone/>
            </a:pPr>
            <a:r>
              <a:rPr lang="en-US" sz="1300" b="1" dirty="0">
                <a:solidFill>
                  <a:srgbClr val="C0392B"/>
                </a:solidFill>
              </a:rPr>
              <a:t>• </a:t>
            </a:r>
            <a:r>
              <a:rPr lang="en-US" sz="1300" dirty="0">
                <a:solidFill>
                  <a:srgbClr val="F8F0FF"/>
                </a:solidFill>
              </a:rPr>
              <a:t>Memory
</a:t>
            </a:r>
            <a:r>
              <a:rPr lang="en-US" sz="1300" b="1" dirty="0">
                <a:solidFill>
                  <a:srgbClr val="C0392B"/>
                </a:solidFill>
              </a:rPr>
              <a:t>• </a:t>
            </a:r>
            <a:r>
              <a:rPr lang="en-US" sz="1300" dirty="0">
                <a:solidFill>
                  <a:srgbClr val="F8F0FF"/>
                </a:solidFill>
              </a:rPr>
              <a:t>RAM
</a:t>
            </a:r>
            <a:r>
              <a:rPr lang="en-US" sz="1300" b="1" dirty="0">
                <a:solidFill>
                  <a:srgbClr val="C0392B"/>
                </a:solidFill>
              </a:rPr>
              <a:t>• </a:t>
            </a:r>
            <a:r>
              <a:rPr lang="en-US" sz="1300" dirty="0">
                <a:solidFill>
                  <a:srgbClr val="F8F0FF"/>
                </a:solidFill>
              </a:rPr>
              <a:t>Front_Camera_MP
</a:t>
            </a:r>
            <a:r>
              <a:rPr lang="en-US" sz="1300" b="1" dirty="0">
                <a:solidFill>
                  <a:srgbClr val="C0392B"/>
                </a:solidFill>
              </a:rPr>
              <a:t>• </a:t>
            </a:r>
            <a:r>
              <a:rPr lang="en-US" sz="1300" dirty="0">
                <a:solidFill>
                  <a:srgbClr val="F8F0FF"/>
                </a:solidFill>
              </a:rPr>
              <a:t>Rear_Camera_MP
</a:t>
            </a:r>
            <a:r>
              <a:rPr lang="en-US" sz="1300" b="1" dirty="0">
                <a:solidFill>
                  <a:srgbClr val="C0392B"/>
                </a:solidFill>
              </a:rPr>
              <a:t>• </a:t>
            </a:r>
            <a:r>
              <a:rPr lang="en-US" sz="1300" dirty="0">
                <a:solidFill>
                  <a:srgbClr val="F8F0FF"/>
                </a:solidFill>
              </a:rPr>
              <a:t>Camera_Score
</a:t>
            </a:r>
            <a:r>
              <a:rPr lang="en-US" sz="1300" b="1" dirty="0">
                <a:solidFill>
                  <a:srgbClr val="C0392B"/>
                </a:solidFill>
              </a:rPr>
              <a:t>• </a:t>
            </a:r>
            <a:r>
              <a:rPr lang="en-US" sz="1300" dirty="0">
                <a:solidFill>
                  <a:srgbClr val="F8F0FF"/>
                </a:solidFill>
              </a:rPr>
              <a:t>Mobile Height
</a:t>
            </a:r>
            <a:r>
              <a:rPr lang="en-US" sz="1300" b="1" dirty="0">
                <a:solidFill>
                  <a:srgbClr val="C0392B"/>
                </a:solidFill>
              </a:rPr>
              <a:t>• </a:t>
            </a:r>
            <a:r>
              <a:rPr lang="en-US" sz="1300" dirty="0">
                <a:solidFill>
                  <a:srgbClr val="F8F0FF"/>
                </a:solidFill>
              </a:rPr>
              <a:t>Processor_ (improve encoding later)</a:t>
            </a:r>
            <a:endParaRPr lang="en-US" sz="1300" dirty="0"/>
          </a:p>
        </p:txBody>
      </p:sp>
      <p:sp>
        <p:nvSpPr>
          <p:cNvPr id="11" name="Shape 9"/>
          <p:cNvSpPr/>
          <p:nvPr/>
        </p:nvSpPr>
        <p:spPr>
          <a:xfrm>
            <a:off x="713232" y="4160520"/>
            <a:ext cx="3246120" cy="0"/>
          </a:xfrm>
          <a:prstGeom prst="roundRect">
            <a:avLst>
              <a:gd name="adj" fmla="val 2778"/>
            </a:avLst>
          </a:prstGeom>
          <a:solidFill>
            <a:srgbClr val="3D1155"/>
          </a:solidFill>
          <a:ln w="12700">
            <a:solidFill>
              <a:srgbClr val="F4A261"/>
            </a:solidFill>
            <a:prstDash val="solid"/>
          </a:ln>
        </p:spPr>
        <p:txBody>
          <a:bodyPr/>
          <a:lstStyle/>
          <a:p>
            <a:endParaRPr lang="en-IN"/>
          </a:p>
        </p:txBody>
      </p:sp>
      <p:sp>
        <p:nvSpPr>
          <p:cNvPr id="12" name="Text 10"/>
          <p:cNvSpPr/>
          <p:nvPr/>
        </p:nvSpPr>
        <p:spPr>
          <a:xfrm>
            <a:off x="841248" y="4251960"/>
            <a:ext cx="2990088" cy="0"/>
          </a:xfrm>
          <a:prstGeom prst="rect">
            <a:avLst/>
          </a:prstGeom>
          <a:noFill/>
          <a:ln/>
        </p:spPr>
        <p:txBody>
          <a:bodyPr wrap="square" lIns="0" tIns="0" rIns="0" bIns="0" rtlCol="0" anchor="ctr"/>
          <a:lstStyle/>
          <a:p>
            <a:pPr marL="0" indent="0">
              <a:buNone/>
            </a:pPr>
            <a:r>
              <a:rPr lang="en-US" sz="1000" b="1" dirty="0">
                <a:solidFill>
                  <a:srgbClr val="F4A261"/>
                </a:solidFill>
              </a:rPr>
              <a:t>Why these features</a:t>
            </a:r>
            <a:endParaRPr lang="en-US" sz="1000" dirty="0"/>
          </a:p>
        </p:txBody>
      </p:sp>
      <p:sp>
        <p:nvSpPr>
          <p:cNvPr id="13" name="Text 11"/>
          <p:cNvSpPr/>
          <p:nvPr/>
        </p:nvSpPr>
        <p:spPr>
          <a:xfrm>
            <a:off x="841248" y="4434840"/>
            <a:ext cx="2990088" cy="1316736"/>
          </a:xfrm>
          <a:prstGeom prst="rect">
            <a:avLst/>
          </a:prstGeom>
          <a:noFill/>
          <a:ln/>
        </p:spPr>
        <p:txBody>
          <a:bodyPr wrap="square" lIns="0" tIns="0" rIns="0" bIns="0" rtlCol="0" anchor="t">
            <a:normAutofit/>
          </a:bodyPr>
          <a:lstStyle/>
          <a:p>
            <a:pPr marL="0" indent="0">
              <a:buNone/>
            </a:pPr>
            <a:r>
              <a:rPr lang="en-US" sz="1050" dirty="0">
                <a:solidFill>
                  <a:srgbClr val="F8F0FF"/>
                </a:solidFill>
              </a:rPr>
              <a:t>They combine strong signal, good business meaning, and practical interpretability. Weak variables such as Battery and AI Lens should not dominate the first model.</a:t>
            </a:r>
            <a:endParaRPr lang="en-US" sz="1050" dirty="0"/>
          </a:p>
        </p:txBody>
      </p:sp>
      <p:sp>
        <p:nvSpPr>
          <p:cNvPr id="14" name="Shape 12"/>
          <p:cNvSpPr/>
          <p:nvPr/>
        </p:nvSpPr>
        <p:spPr>
          <a:xfrm>
            <a:off x="4407408" y="1078992"/>
            <a:ext cx="3566160" cy="5349240"/>
          </a:xfrm>
          <a:prstGeom prst="roundRect">
            <a:avLst>
              <a:gd name="adj" fmla="val 2051"/>
            </a:avLst>
          </a:prstGeom>
          <a:solidFill>
            <a:srgbClr val="1E0E2E"/>
          </a:solidFill>
          <a:ln w="12700">
            <a:solidFill>
              <a:srgbClr val="5E2680"/>
            </a:solidFill>
            <a:prstDash val="solid"/>
          </a:ln>
        </p:spPr>
        <p:txBody>
          <a:bodyPr/>
          <a:lstStyle/>
          <a:p>
            <a:endParaRPr lang="en-IN"/>
          </a:p>
        </p:txBody>
      </p:sp>
      <p:sp>
        <p:nvSpPr>
          <p:cNvPr id="15" name="Text 13"/>
          <p:cNvSpPr/>
          <p:nvPr/>
        </p:nvSpPr>
        <p:spPr>
          <a:xfrm>
            <a:off x="4572000" y="1188720"/>
            <a:ext cx="3236976" cy="201168"/>
          </a:xfrm>
          <a:prstGeom prst="rect">
            <a:avLst/>
          </a:prstGeom>
          <a:noFill/>
          <a:ln/>
        </p:spPr>
        <p:txBody>
          <a:bodyPr wrap="square" lIns="0" tIns="0" rIns="0" bIns="0" rtlCol="0" anchor="ctr"/>
          <a:lstStyle/>
          <a:p>
            <a:pPr marL="0" indent="0">
              <a:buNone/>
            </a:pPr>
            <a:r>
              <a:rPr lang="en-US" sz="1050" b="1" dirty="0">
                <a:solidFill>
                  <a:srgbClr val="F39C12"/>
                </a:solidFill>
              </a:rPr>
              <a:t>Suggested modelling path</a:t>
            </a:r>
            <a:endParaRPr lang="en-US" sz="1050" dirty="0"/>
          </a:p>
        </p:txBody>
      </p:sp>
      <p:sp>
        <p:nvSpPr>
          <p:cNvPr id="16" name="Text 14"/>
          <p:cNvSpPr/>
          <p:nvPr/>
        </p:nvSpPr>
        <p:spPr>
          <a:xfrm>
            <a:off x="4617720" y="1481328"/>
            <a:ext cx="3154680" cy="2606040"/>
          </a:xfrm>
          <a:prstGeom prst="rect">
            <a:avLst/>
          </a:prstGeom>
          <a:noFill/>
          <a:ln/>
        </p:spPr>
        <p:txBody>
          <a:bodyPr wrap="square" lIns="254" tIns="254" rIns="254" bIns="254" rtlCol="0" anchor="t">
            <a:normAutofit/>
          </a:bodyPr>
          <a:lstStyle/>
          <a:p>
            <a:pPr marL="0" indent="0">
              <a:buNone/>
            </a:pPr>
            <a:r>
              <a:rPr lang="en-US" sz="1300" b="1" dirty="0">
                <a:solidFill>
                  <a:srgbClr val="8D5CF6"/>
                </a:solidFill>
              </a:rPr>
              <a:t>• </a:t>
            </a:r>
            <a:r>
              <a:rPr lang="en-US" sz="1300" dirty="0">
                <a:solidFill>
                  <a:srgbClr val="F8F0FF"/>
                </a:solidFill>
              </a:rPr>
              <a:t>Start with Random Forest Regressor as the baseline.
</a:t>
            </a:r>
            <a:r>
              <a:rPr lang="en-US" sz="1300" b="1" dirty="0">
                <a:solidFill>
                  <a:srgbClr val="8D5CF6"/>
                </a:solidFill>
              </a:rPr>
              <a:t>• </a:t>
            </a:r>
            <a:r>
              <a:rPr lang="en-US" sz="1300" dirty="0">
                <a:solidFill>
                  <a:srgbClr val="F8F0FF"/>
                </a:solidFill>
              </a:rPr>
              <a:t>Compare with Linear Regression for interpretability.
</a:t>
            </a:r>
            <a:r>
              <a:rPr lang="en-US" sz="1300" b="1" dirty="0">
                <a:solidFill>
                  <a:srgbClr val="8D5CF6"/>
                </a:solidFill>
              </a:rPr>
              <a:t>• </a:t>
            </a:r>
            <a:r>
              <a:rPr lang="en-US" sz="1300" dirty="0">
                <a:solidFill>
                  <a:srgbClr val="F8F0FF"/>
                </a:solidFill>
              </a:rPr>
              <a:t>Use train/test split and cross-validation.
</a:t>
            </a:r>
            <a:r>
              <a:rPr lang="en-US" sz="1300" b="1" dirty="0">
                <a:solidFill>
                  <a:srgbClr val="8D5CF6"/>
                </a:solidFill>
              </a:rPr>
              <a:t>• </a:t>
            </a:r>
            <a:r>
              <a:rPr lang="en-US" sz="1300" dirty="0">
                <a:solidFill>
                  <a:srgbClr val="F8F0FF"/>
                </a:solidFill>
              </a:rPr>
              <a:t>Evaluate with R², MAE, and RMSE.
</a:t>
            </a:r>
            <a:r>
              <a:rPr lang="en-US" sz="1300" b="1" dirty="0">
                <a:solidFill>
                  <a:srgbClr val="8D5CF6"/>
                </a:solidFill>
              </a:rPr>
              <a:t>• </a:t>
            </a:r>
            <a:r>
              <a:rPr lang="en-US" sz="1300" dirty="0">
                <a:solidFill>
                  <a:srgbClr val="F8F0FF"/>
                </a:solidFill>
              </a:rPr>
              <a:t>Test interaction-aware models if accuracy plateaus.</a:t>
            </a:r>
            <a:endParaRPr lang="en-US" sz="1300" dirty="0"/>
          </a:p>
        </p:txBody>
      </p:sp>
      <p:sp>
        <p:nvSpPr>
          <p:cNvPr id="17" name="Shape 15"/>
          <p:cNvSpPr/>
          <p:nvPr/>
        </p:nvSpPr>
        <p:spPr>
          <a:xfrm>
            <a:off x="4617720" y="4297680"/>
            <a:ext cx="3154680" cy="1463040"/>
          </a:xfrm>
          <a:prstGeom prst="roundRect">
            <a:avLst>
              <a:gd name="adj" fmla="val 3125"/>
            </a:avLst>
          </a:prstGeom>
          <a:solidFill>
            <a:srgbClr val="3D1155"/>
          </a:solidFill>
          <a:ln w="12700">
            <a:solidFill>
              <a:srgbClr val="C0392B"/>
            </a:solidFill>
            <a:prstDash val="solid"/>
          </a:ln>
        </p:spPr>
        <p:txBody>
          <a:bodyPr/>
          <a:lstStyle/>
          <a:p>
            <a:endParaRPr lang="en-IN"/>
          </a:p>
        </p:txBody>
      </p:sp>
      <p:sp>
        <p:nvSpPr>
          <p:cNvPr id="18" name="Text 16"/>
          <p:cNvSpPr/>
          <p:nvPr/>
        </p:nvSpPr>
        <p:spPr>
          <a:xfrm>
            <a:off x="4745736" y="4389120"/>
            <a:ext cx="2898648" cy="0"/>
          </a:xfrm>
          <a:prstGeom prst="rect">
            <a:avLst/>
          </a:prstGeom>
          <a:noFill/>
          <a:ln/>
        </p:spPr>
        <p:txBody>
          <a:bodyPr wrap="square" lIns="0" tIns="0" rIns="0" bIns="0" rtlCol="0" anchor="ctr"/>
          <a:lstStyle/>
          <a:p>
            <a:pPr marL="0" indent="0">
              <a:buNone/>
            </a:pPr>
            <a:r>
              <a:rPr lang="en-US" sz="1000" b="1" dirty="0">
                <a:solidFill>
                  <a:srgbClr val="C0392B"/>
                </a:solidFill>
              </a:rPr>
              <a:t>Expected benefit</a:t>
            </a:r>
            <a:endParaRPr lang="en-US" sz="1000" dirty="0"/>
          </a:p>
        </p:txBody>
      </p:sp>
      <p:sp>
        <p:nvSpPr>
          <p:cNvPr id="19" name="Text 17"/>
          <p:cNvSpPr/>
          <p:nvPr/>
        </p:nvSpPr>
        <p:spPr>
          <a:xfrm>
            <a:off x="4745736" y="4572000"/>
            <a:ext cx="2898648" cy="1133856"/>
          </a:xfrm>
          <a:prstGeom prst="rect">
            <a:avLst/>
          </a:prstGeom>
          <a:noFill/>
          <a:ln/>
        </p:spPr>
        <p:txBody>
          <a:bodyPr wrap="square" lIns="0" tIns="0" rIns="0" bIns="0" rtlCol="0" anchor="t">
            <a:normAutofit/>
          </a:bodyPr>
          <a:lstStyle/>
          <a:p>
            <a:pPr marL="0" indent="0">
              <a:buNone/>
            </a:pPr>
            <a:r>
              <a:rPr lang="en-US" sz="1050" dirty="0">
                <a:solidFill>
                  <a:srgbClr val="F8F0FF"/>
                </a:solidFill>
              </a:rPr>
              <a:t>The engineered feature set should outperform raw text-heavy inputs and reduce manual preprocessing in the modelling stage.</a:t>
            </a:r>
            <a:endParaRPr lang="en-US" sz="1050" dirty="0"/>
          </a:p>
        </p:txBody>
      </p:sp>
      <p:sp>
        <p:nvSpPr>
          <p:cNvPr id="20" name="Shape 18"/>
          <p:cNvSpPr/>
          <p:nvPr/>
        </p:nvSpPr>
        <p:spPr>
          <a:xfrm>
            <a:off x="8211312" y="1078992"/>
            <a:ext cx="3474720" cy="5349240"/>
          </a:xfrm>
          <a:prstGeom prst="roundRect">
            <a:avLst>
              <a:gd name="adj" fmla="val 2105"/>
            </a:avLst>
          </a:prstGeom>
          <a:solidFill>
            <a:srgbClr val="1E0E2E"/>
          </a:solidFill>
          <a:ln w="12700">
            <a:solidFill>
              <a:srgbClr val="5E2680"/>
            </a:solidFill>
            <a:prstDash val="solid"/>
          </a:ln>
        </p:spPr>
        <p:txBody>
          <a:bodyPr/>
          <a:lstStyle/>
          <a:p>
            <a:endParaRPr lang="en-IN"/>
          </a:p>
        </p:txBody>
      </p:sp>
      <p:sp>
        <p:nvSpPr>
          <p:cNvPr id="21" name="Text 19"/>
          <p:cNvSpPr/>
          <p:nvPr/>
        </p:nvSpPr>
        <p:spPr>
          <a:xfrm>
            <a:off x="8375904" y="1188720"/>
            <a:ext cx="3145536" cy="201168"/>
          </a:xfrm>
          <a:prstGeom prst="rect">
            <a:avLst/>
          </a:prstGeom>
          <a:noFill/>
          <a:ln/>
        </p:spPr>
        <p:txBody>
          <a:bodyPr wrap="square" lIns="0" tIns="0" rIns="0" bIns="0" rtlCol="0" anchor="ctr"/>
          <a:lstStyle/>
          <a:p>
            <a:pPr marL="0" indent="0">
              <a:buNone/>
            </a:pPr>
            <a:r>
              <a:rPr lang="en-US" sz="1050" b="1" dirty="0">
                <a:solidFill>
                  <a:srgbClr val="F39C12"/>
                </a:solidFill>
              </a:rPr>
              <a:t>Business recommendation</a:t>
            </a:r>
            <a:endParaRPr lang="en-US" sz="1050" dirty="0"/>
          </a:p>
        </p:txBody>
      </p:sp>
      <p:sp>
        <p:nvSpPr>
          <p:cNvPr id="22" name="Text 20"/>
          <p:cNvSpPr/>
          <p:nvPr/>
        </p:nvSpPr>
        <p:spPr>
          <a:xfrm>
            <a:off x="8412480" y="1481328"/>
            <a:ext cx="3063240" cy="2651760"/>
          </a:xfrm>
          <a:prstGeom prst="rect">
            <a:avLst/>
          </a:prstGeom>
          <a:noFill/>
          <a:ln/>
        </p:spPr>
        <p:txBody>
          <a:bodyPr wrap="square" lIns="254" tIns="254" rIns="254" bIns="254" rtlCol="0" anchor="t">
            <a:normAutofit/>
          </a:bodyPr>
          <a:lstStyle/>
          <a:p>
            <a:pPr marL="0" indent="0">
              <a:buNone/>
            </a:pPr>
            <a:r>
              <a:rPr lang="en-US" sz="1300" b="1" dirty="0">
                <a:solidFill>
                  <a:srgbClr val="F39C12"/>
                </a:solidFill>
              </a:rPr>
              <a:t>• </a:t>
            </a:r>
            <a:r>
              <a:rPr lang="en-US" sz="1300" dirty="0">
                <a:solidFill>
                  <a:srgbClr val="F8F0FF"/>
                </a:solidFill>
              </a:rPr>
              <a:t>Win the Mid-Range tier with clear RAM + storage ladders.
</a:t>
            </a:r>
            <a:r>
              <a:rPr lang="en-US" sz="1300" b="1" dirty="0">
                <a:solidFill>
                  <a:srgbClr val="F39C12"/>
                </a:solidFill>
              </a:rPr>
              <a:t>• </a:t>
            </a:r>
            <a:r>
              <a:rPr lang="en-US" sz="1300" dirty="0">
                <a:solidFill>
                  <a:srgbClr val="F8F0FF"/>
                </a:solidFill>
              </a:rPr>
              <a:t>Use camera quality as a premium storytelling lever.
</a:t>
            </a:r>
            <a:r>
              <a:rPr lang="en-US" sz="1300" b="1" dirty="0">
                <a:solidFill>
                  <a:srgbClr val="F39C12"/>
                </a:solidFill>
              </a:rPr>
              <a:t>• </a:t>
            </a:r>
            <a:r>
              <a:rPr lang="en-US" sz="1300" dirty="0">
                <a:solidFill>
                  <a:srgbClr val="F8F0FF"/>
                </a:solidFill>
              </a:rPr>
              <a:t>Treat battery as a baseline expectation, not a premium claim.
</a:t>
            </a:r>
            <a:r>
              <a:rPr lang="en-US" sz="1300" b="1" dirty="0">
                <a:solidFill>
                  <a:srgbClr val="F39C12"/>
                </a:solidFill>
              </a:rPr>
              <a:t>• </a:t>
            </a:r>
            <a:r>
              <a:rPr lang="en-US" sz="1300" dirty="0">
                <a:solidFill>
                  <a:srgbClr val="F8F0FF"/>
                </a:solidFill>
              </a:rPr>
              <a:t>Design coherent variant bundles, not isolated spec jumps.</a:t>
            </a:r>
            <a:endParaRPr lang="en-US" sz="1300" dirty="0"/>
          </a:p>
        </p:txBody>
      </p:sp>
      <p:sp>
        <p:nvSpPr>
          <p:cNvPr id="23" name="Shape 21"/>
          <p:cNvSpPr/>
          <p:nvPr/>
        </p:nvSpPr>
        <p:spPr>
          <a:xfrm>
            <a:off x="8412480" y="4370832"/>
            <a:ext cx="3063240" cy="1389888"/>
          </a:xfrm>
          <a:prstGeom prst="roundRect">
            <a:avLst>
              <a:gd name="adj" fmla="val 3289"/>
            </a:avLst>
          </a:prstGeom>
          <a:solidFill>
            <a:srgbClr val="3D1155"/>
          </a:solidFill>
          <a:ln w="12700">
            <a:solidFill>
              <a:srgbClr val="EF476F"/>
            </a:solidFill>
            <a:prstDash val="solid"/>
          </a:ln>
        </p:spPr>
        <p:txBody>
          <a:bodyPr/>
          <a:lstStyle/>
          <a:p>
            <a:endParaRPr lang="en-IN"/>
          </a:p>
        </p:txBody>
      </p:sp>
      <p:sp>
        <p:nvSpPr>
          <p:cNvPr id="24" name="Text 22"/>
          <p:cNvSpPr/>
          <p:nvPr/>
        </p:nvSpPr>
        <p:spPr>
          <a:xfrm>
            <a:off x="8540496" y="4462272"/>
            <a:ext cx="2807208" cy="0"/>
          </a:xfrm>
          <a:prstGeom prst="rect">
            <a:avLst/>
          </a:prstGeom>
          <a:noFill/>
          <a:ln/>
        </p:spPr>
        <p:txBody>
          <a:bodyPr wrap="square" lIns="0" tIns="0" rIns="0" bIns="0" rtlCol="0" anchor="ctr"/>
          <a:lstStyle/>
          <a:p>
            <a:pPr marL="0" indent="0">
              <a:buNone/>
            </a:pPr>
            <a:r>
              <a:rPr lang="en-US" sz="1000" b="1" dirty="0">
                <a:solidFill>
                  <a:srgbClr val="EF476F"/>
                </a:solidFill>
              </a:rPr>
              <a:t>Bottom line</a:t>
            </a:r>
            <a:endParaRPr lang="en-US" sz="1000" dirty="0"/>
          </a:p>
        </p:txBody>
      </p:sp>
      <p:sp>
        <p:nvSpPr>
          <p:cNvPr id="25" name="Text 23"/>
          <p:cNvSpPr/>
          <p:nvPr/>
        </p:nvSpPr>
        <p:spPr>
          <a:xfrm>
            <a:off x="8540496" y="4645152"/>
            <a:ext cx="2807208" cy="1060704"/>
          </a:xfrm>
          <a:prstGeom prst="rect">
            <a:avLst/>
          </a:prstGeom>
          <a:noFill/>
          <a:ln/>
        </p:spPr>
        <p:txBody>
          <a:bodyPr wrap="square" lIns="0" tIns="0" rIns="0" bIns="0" rtlCol="0" anchor="t">
            <a:normAutofit/>
          </a:bodyPr>
          <a:lstStyle/>
          <a:p>
            <a:pPr marL="0" indent="0">
              <a:buNone/>
            </a:pPr>
            <a:r>
              <a:rPr lang="en-US" sz="1050" dirty="0">
                <a:solidFill>
                  <a:srgbClr val="F8F0FF"/>
                </a:solidFill>
              </a:rPr>
              <a:t>This project converts descriptive specifications into a commercial pricing logic that is both explainable and ready for machine learning.</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0A1E"/>
        </a:solidFill>
        <a:effectLst/>
      </p:bgPr>
    </p:bg>
    <p:spTree>
      <p:nvGrpSpPr>
        <p:cNvPr id="1" name=""/>
        <p:cNvGrpSpPr/>
        <p:nvPr/>
      </p:nvGrpSpPr>
      <p:grpSpPr>
        <a:xfrm>
          <a:off x="0" y="0"/>
          <a:ext cx="0" cy="0"/>
          <a:chOff x="0" y="0"/>
          <a:chExt cx="0" cy="0"/>
        </a:xfrm>
      </p:grpSpPr>
      <p:sp>
        <p:nvSpPr>
          <p:cNvPr id="2" name="Shape 0"/>
          <p:cNvSpPr/>
          <p:nvPr/>
        </p:nvSpPr>
        <p:spPr>
          <a:xfrm>
            <a:off x="0" y="0"/>
            <a:ext cx="0" cy="6858000"/>
          </a:xfrm>
          <a:prstGeom prst="rect">
            <a:avLst/>
          </a:prstGeom>
          <a:solidFill>
            <a:srgbClr val="1A0A1E"/>
          </a:solidFill>
          <a:ln w="12700">
            <a:solidFill>
              <a:srgbClr val="1A0A1E"/>
            </a:solidFill>
            <a:prstDash val="solid"/>
          </a:ln>
        </p:spPr>
        <p:txBody>
          <a:bodyPr/>
          <a:lstStyle/>
          <a:p>
            <a:endParaRPr lang="en-IN"/>
          </a:p>
        </p:txBody>
      </p:sp>
      <p:sp>
        <p:nvSpPr>
          <p:cNvPr id="3" name="Shape 1"/>
          <p:cNvSpPr/>
          <p:nvPr/>
        </p:nvSpPr>
        <p:spPr>
          <a:xfrm>
            <a:off x="0" y="0"/>
            <a:ext cx="0" cy="0"/>
          </a:xfrm>
          <a:prstGeom prst="rect">
            <a:avLst/>
          </a:prstGeom>
          <a:solidFill>
            <a:srgbClr val="C0392B"/>
          </a:solidFill>
          <a:ln w="12700">
            <a:solidFill>
              <a:srgbClr val="C0392B"/>
            </a:solidFill>
            <a:prstDash val="solid"/>
          </a:ln>
        </p:spPr>
        <p:txBody>
          <a:bodyPr/>
          <a:lstStyle/>
          <a:p>
            <a:endParaRPr lang="en-IN"/>
          </a:p>
        </p:txBody>
      </p:sp>
      <p:sp>
        <p:nvSpPr>
          <p:cNvPr id="4" name="Shape 2"/>
          <p:cNvSpPr/>
          <p:nvPr/>
        </p:nvSpPr>
        <p:spPr>
          <a:xfrm>
            <a:off x="0" y="6601968"/>
            <a:ext cx="0" cy="256032"/>
          </a:xfrm>
          <a:prstGeom prst="rect">
            <a:avLst/>
          </a:prstGeom>
          <a:solidFill>
            <a:srgbClr val="1F0D25"/>
          </a:solidFill>
          <a:ln w="12700">
            <a:solidFill>
              <a:srgbClr val="1F0D25"/>
            </a:solidFill>
            <a:prstDash val="solid"/>
          </a:ln>
        </p:spPr>
        <p:txBody>
          <a:bodyPr/>
          <a:lstStyle/>
          <a:p>
            <a:endParaRPr lang="en-IN"/>
          </a:p>
        </p:txBody>
      </p:sp>
      <p:sp>
        <p:nvSpPr>
          <p:cNvPr id="5" name="Text 3"/>
          <p:cNvSpPr/>
          <p:nvPr/>
        </p:nvSpPr>
        <p:spPr>
          <a:xfrm>
            <a:off x="9235440" y="6656832"/>
            <a:ext cx="2468880" cy="137160"/>
          </a:xfrm>
          <a:prstGeom prst="rect">
            <a:avLst/>
          </a:prstGeom>
          <a:noFill/>
          <a:ln/>
        </p:spPr>
        <p:txBody>
          <a:bodyPr wrap="square" lIns="0" tIns="0" rIns="0" bIns="0" rtlCol="0" anchor="ctr"/>
          <a:lstStyle/>
          <a:p>
            <a:pPr marL="0" indent="0" algn="r">
              <a:buNone/>
            </a:pPr>
            <a:r>
              <a:rPr lang="en-US" sz="800" dirty="0">
                <a:solidFill>
                  <a:srgbClr val="BA8FD4"/>
                </a:solidFill>
              </a:rPr>
              <a:t>NHIS Project 4  •  Neha Chhapariya  •  10</a:t>
            </a:r>
            <a:endParaRPr lang="en-US" sz="800" dirty="0"/>
          </a:p>
        </p:txBody>
      </p:sp>
      <p:sp>
        <p:nvSpPr>
          <p:cNvPr id="6" name="Text 4"/>
          <p:cNvSpPr/>
          <p:nvPr/>
        </p:nvSpPr>
        <p:spPr>
          <a:xfrm>
            <a:off x="731520" y="1097280"/>
            <a:ext cx="2743200" cy="457200"/>
          </a:xfrm>
          <a:prstGeom prst="rect">
            <a:avLst/>
          </a:prstGeom>
          <a:noFill/>
          <a:ln/>
        </p:spPr>
        <p:txBody>
          <a:bodyPr wrap="square" lIns="0" tIns="0" rIns="0" bIns="0" rtlCol="0" anchor="ctr"/>
          <a:lstStyle/>
          <a:p>
            <a:pPr marL="0" indent="0">
              <a:buNone/>
            </a:pPr>
            <a:r>
              <a:rPr lang="en-US" sz="2800" b="1" dirty="0">
                <a:solidFill>
                  <a:srgbClr val="C0392B"/>
                </a:solidFill>
              </a:rPr>
              <a:t>Thank you</a:t>
            </a:r>
            <a:endParaRPr lang="en-US" sz="2800" dirty="0"/>
          </a:p>
        </p:txBody>
      </p:sp>
      <p:sp>
        <p:nvSpPr>
          <p:cNvPr id="7" name="Text 5"/>
          <p:cNvSpPr/>
          <p:nvPr/>
        </p:nvSpPr>
        <p:spPr>
          <a:xfrm>
            <a:off x="731520" y="0"/>
            <a:ext cx="4846320" cy="320040"/>
          </a:xfrm>
          <a:prstGeom prst="rect">
            <a:avLst/>
          </a:prstGeom>
          <a:noFill/>
          <a:ln/>
        </p:spPr>
        <p:txBody>
          <a:bodyPr wrap="square" lIns="0" tIns="0" rIns="0" bIns="0" rtlCol="0" anchor="ctr"/>
          <a:lstStyle/>
          <a:p>
            <a:pPr marL="0" indent="0">
              <a:buNone/>
            </a:pPr>
            <a:r>
              <a:rPr lang="en-US" sz="2200" b="1" dirty="0">
                <a:solidFill>
                  <a:srgbClr val="F8F0FF"/>
                </a:solidFill>
              </a:rPr>
              <a:t>NHIS Project 4 — Final Presentation</a:t>
            </a:r>
            <a:endParaRPr lang="en-US" sz="2200" dirty="0"/>
          </a:p>
        </p:txBody>
      </p:sp>
      <p:sp>
        <p:nvSpPr>
          <p:cNvPr id="8" name="Text 6"/>
          <p:cNvSpPr/>
          <p:nvPr/>
        </p:nvSpPr>
        <p:spPr>
          <a:xfrm>
            <a:off x="731520" y="2057400"/>
            <a:ext cx="3474720" cy="228600"/>
          </a:xfrm>
          <a:prstGeom prst="rect">
            <a:avLst/>
          </a:prstGeom>
          <a:noFill/>
          <a:ln/>
        </p:spPr>
        <p:txBody>
          <a:bodyPr wrap="square" lIns="0" tIns="0" rIns="0" bIns="0" rtlCol="0" anchor="ctr"/>
          <a:lstStyle/>
          <a:p>
            <a:pPr marL="0" indent="0">
              <a:buNone/>
            </a:pPr>
            <a:r>
              <a:rPr lang="en-US" sz="1300" dirty="0">
                <a:solidFill>
                  <a:srgbClr val="F39C12"/>
                </a:solidFill>
              </a:rPr>
              <a:t>Prepared by Neha Chhapariya</a:t>
            </a:r>
            <a:endParaRPr lang="en-US" sz="1300" dirty="0"/>
          </a:p>
        </p:txBody>
      </p:sp>
      <p:sp>
        <p:nvSpPr>
          <p:cNvPr id="9" name="Shape 7"/>
          <p:cNvSpPr/>
          <p:nvPr/>
        </p:nvSpPr>
        <p:spPr>
          <a:xfrm>
            <a:off x="731520" y="2743200"/>
            <a:ext cx="4297680" cy="1417320"/>
          </a:xfrm>
          <a:prstGeom prst="roundRect">
            <a:avLst>
              <a:gd name="adj" fmla="val 3226"/>
            </a:avLst>
          </a:prstGeom>
          <a:solidFill>
            <a:srgbClr val="3D1155"/>
          </a:solidFill>
          <a:ln w="12700">
            <a:solidFill>
              <a:srgbClr val="F4A261"/>
            </a:solidFill>
            <a:prstDash val="solid"/>
          </a:ln>
        </p:spPr>
        <p:txBody>
          <a:bodyPr/>
          <a:lstStyle/>
          <a:p>
            <a:endParaRPr lang="en-IN"/>
          </a:p>
        </p:txBody>
      </p:sp>
      <p:sp>
        <p:nvSpPr>
          <p:cNvPr id="10" name="Text 8"/>
          <p:cNvSpPr/>
          <p:nvPr/>
        </p:nvSpPr>
        <p:spPr>
          <a:xfrm>
            <a:off x="859536" y="2834640"/>
            <a:ext cx="4041648" cy="0"/>
          </a:xfrm>
          <a:prstGeom prst="rect">
            <a:avLst/>
          </a:prstGeom>
          <a:noFill/>
          <a:ln/>
        </p:spPr>
        <p:txBody>
          <a:bodyPr wrap="square" lIns="0" tIns="0" rIns="0" bIns="0" rtlCol="0" anchor="ctr"/>
          <a:lstStyle/>
          <a:p>
            <a:pPr marL="0" indent="0">
              <a:buNone/>
            </a:pPr>
            <a:r>
              <a:rPr lang="en-US" sz="1000" b="1" dirty="0">
                <a:solidFill>
                  <a:srgbClr val="F4A261"/>
                </a:solidFill>
              </a:rPr>
              <a:t>Submission note</a:t>
            </a:r>
            <a:endParaRPr lang="en-US" sz="1000" dirty="0"/>
          </a:p>
        </p:txBody>
      </p:sp>
      <p:sp>
        <p:nvSpPr>
          <p:cNvPr id="11" name="Text 9"/>
          <p:cNvSpPr/>
          <p:nvPr/>
        </p:nvSpPr>
        <p:spPr>
          <a:xfrm>
            <a:off x="859536" y="3017520"/>
            <a:ext cx="4041648" cy="1088136"/>
          </a:xfrm>
          <a:prstGeom prst="rect">
            <a:avLst/>
          </a:prstGeom>
          <a:noFill/>
          <a:ln/>
        </p:spPr>
        <p:txBody>
          <a:bodyPr wrap="square" lIns="0" tIns="0" rIns="0" bIns="0" rtlCol="0" anchor="t">
            <a:normAutofit/>
          </a:bodyPr>
          <a:lstStyle/>
          <a:p>
            <a:pPr marL="0" indent="0">
              <a:buNone/>
            </a:pPr>
            <a:r>
              <a:rPr lang="en-US" sz="1050" dirty="0">
                <a:solidFill>
                  <a:srgbClr val="F8F0FF"/>
                </a:solidFill>
              </a:rPr>
              <a:t>This deck aligns with the notebook and uses the actual project visuals, refined interpretations, and business-ready recommendations so the final submission reads like a complete analytical story.</a:t>
            </a:r>
            <a:endParaRPr lang="en-US" sz="1050" dirty="0"/>
          </a:p>
        </p:txBody>
      </p:sp>
      <p:sp>
        <p:nvSpPr>
          <p:cNvPr id="12" name="Shape 10"/>
          <p:cNvSpPr/>
          <p:nvPr/>
        </p:nvSpPr>
        <p:spPr>
          <a:xfrm>
            <a:off x="731520" y="4434840"/>
            <a:ext cx="4297680" cy="1234440"/>
          </a:xfrm>
          <a:prstGeom prst="roundRect">
            <a:avLst>
              <a:gd name="adj" fmla="val 3704"/>
            </a:avLst>
          </a:prstGeom>
          <a:solidFill>
            <a:srgbClr val="3D1155"/>
          </a:solidFill>
          <a:ln w="12700">
            <a:solidFill>
              <a:srgbClr val="C0392B"/>
            </a:solidFill>
            <a:prstDash val="solid"/>
          </a:ln>
        </p:spPr>
        <p:txBody>
          <a:bodyPr/>
          <a:lstStyle/>
          <a:p>
            <a:endParaRPr lang="en-IN"/>
          </a:p>
        </p:txBody>
      </p:sp>
      <p:sp>
        <p:nvSpPr>
          <p:cNvPr id="13" name="Text 11"/>
          <p:cNvSpPr/>
          <p:nvPr/>
        </p:nvSpPr>
        <p:spPr>
          <a:xfrm>
            <a:off x="859536" y="4526280"/>
            <a:ext cx="4041648" cy="0"/>
          </a:xfrm>
          <a:prstGeom prst="rect">
            <a:avLst/>
          </a:prstGeom>
          <a:noFill/>
          <a:ln/>
        </p:spPr>
        <p:txBody>
          <a:bodyPr wrap="square" lIns="0" tIns="0" rIns="0" bIns="0" rtlCol="0" anchor="ctr"/>
          <a:lstStyle/>
          <a:p>
            <a:pPr marL="0" indent="0">
              <a:buNone/>
            </a:pPr>
            <a:r>
              <a:rPr lang="en-US" sz="1000" b="1" dirty="0">
                <a:solidFill>
                  <a:srgbClr val="C0392B"/>
                </a:solidFill>
              </a:rPr>
              <a:t>Closing message</a:t>
            </a:r>
            <a:endParaRPr lang="en-US" sz="1000" dirty="0"/>
          </a:p>
        </p:txBody>
      </p:sp>
      <p:sp>
        <p:nvSpPr>
          <p:cNvPr id="14" name="Text 12"/>
          <p:cNvSpPr/>
          <p:nvPr/>
        </p:nvSpPr>
        <p:spPr>
          <a:xfrm>
            <a:off x="859536" y="4709160"/>
            <a:ext cx="4041648" cy="905256"/>
          </a:xfrm>
          <a:prstGeom prst="rect">
            <a:avLst/>
          </a:prstGeom>
          <a:noFill/>
          <a:ln/>
        </p:spPr>
        <p:txBody>
          <a:bodyPr wrap="square" lIns="0" tIns="0" rIns="0" bIns="0" rtlCol="0" anchor="t">
            <a:normAutofit/>
          </a:bodyPr>
          <a:lstStyle/>
          <a:p>
            <a:pPr marL="0" indent="0">
              <a:buNone/>
            </a:pPr>
            <a:r>
              <a:rPr lang="en-US" sz="1050" dirty="0">
                <a:solidFill>
                  <a:srgbClr val="F8F0FF"/>
                </a:solidFill>
              </a:rPr>
              <a:t>The project demonstrates end-to-end thinking: data cleaning, feature extraction, EDA, commercial interpretation, and readiness for predictive modelling.</a:t>
            </a:r>
            <a:endParaRPr lang="en-US" sz="1050" dirty="0"/>
          </a:p>
        </p:txBody>
      </p:sp>
      <p:pic>
        <p:nvPicPr>
          <p:cNvPr id="15" name="Image 0" descr="/mnt/data/reena_assets/plot_49.png"/>
          <p:cNvPicPr>
            <a:picLocks noChangeAspect="1"/>
          </p:cNvPicPr>
          <p:nvPr/>
        </p:nvPicPr>
        <p:blipFill>
          <a:blip r:embed="rId3"/>
          <a:stretch>
            <a:fillRect/>
          </a:stretch>
        </p:blipFill>
        <p:spPr>
          <a:xfrm>
            <a:off x="0" y="1956829"/>
            <a:ext cx="5623560" cy="331010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1256</Words>
  <Application>Microsoft Office PowerPoint</Application>
  <PresentationFormat>Widescreen</PresentationFormat>
  <Paragraphs>128</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NHIS Project 4 — Top-Tier Submission</dc:title>
  <dc:subject>NHIS Project 4 — Neha Chhapariya</dc:subject>
  <dc:creator>OpenAI</dc:creator>
  <cp:lastModifiedBy>manoj kumar</cp:lastModifiedBy>
  <cp:revision>1</cp:revision>
  <dcterms:created xsi:type="dcterms:W3CDTF">2026-04-17T11:31:09Z</dcterms:created>
  <dcterms:modified xsi:type="dcterms:W3CDTF">2026-04-20T11:10:38Z</dcterms:modified>
</cp:coreProperties>
</file>